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60" r:id="rId5"/>
    <p:sldId id="261" r:id="rId6"/>
    <p:sldId id="262" r:id="rId7"/>
    <p:sldId id="263" r:id="rId8"/>
    <p:sldId id="264" r:id="rId9"/>
    <p:sldId id="265" r:id="rId10"/>
    <p:sldId id="267" r:id="rId11"/>
    <p:sldId id="268" r:id="rId12"/>
    <p:sldId id="269" r:id="rId13"/>
    <p:sldId id="270" r:id="rId14"/>
    <p:sldId id="271" r:id="rId15"/>
    <p:sldId id="272" r:id="rId16"/>
    <p:sldId id="273" r:id="rId17"/>
    <p:sldId id="274" r:id="rId18"/>
    <p:sldId id="275" r:id="rId19"/>
    <p:sldId id="276" r:id="rId20"/>
    <p:sldId id="277" r:id="rId21"/>
    <p:sldId id="278" r:id="rId22"/>
    <p:sldId id="279" r:id="rId2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2" d="100"/>
          <a:sy n="82" d="100"/>
        </p:scale>
        <p:origin x="691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75751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"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C6A06B"/>
          </a:solidFill>
          <a:ln w="12700">
            <a:solidFill>
              <a:srgbClr val="C6A06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6E2D3A"/>
          </a:solidFill>
          <a:ln w="12700">
            <a:solidFill>
              <a:srgbClr val="6E2D3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327648"/>
            <a:ext cx="10789920" cy="0"/>
          </a:xfrm>
          <a:prstGeom prst="line">
            <a:avLst/>
          </a:prstGeom>
          <a:noFill/>
          <a:ln w="12700">
            <a:solidFill>
              <a:srgbClr val="DDD5CA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19088"/>
            <a:ext cx="32004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766C68"/>
                </a:solidFill>
                <a:latin typeface="Noto Sans"/>
                <a:ea typeface="Noto Sans"/>
                <a:cs typeface="Noto Sans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19088"/>
            <a:ext cx="32004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766C68"/>
                </a:solidFill>
                <a:latin typeface="Noto Sans"/>
                <a:ea typeface="Noto Sans"/>
                <a:cs typeface="Noto Sans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1200000">
            <a:off x="9464040" y="228600"/>
            <a:ext cx="2286000" cy="2286000"/>
          </a:xfrm>
          <a:prstGeom prst="arc">
            <a:avLst/>
          </a:prstGeom>
          <a:solidFill>
            <a:srgbClr val="E8D6D5">
              <a:alpha val="82000"/>
            </a:srgbClr>
          </a:solidFill>
          <a:ln w="12700">
            <a:solidFill>
              <a:srgbClr val="E8D6D5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10058400" y="4617720"/>
            <a:ext cx="1417320" cy="1417320"/>
          </a:xfrm>
          <a:prstGeom prst="ellipse">
            <a:avLst/>
          </a:prstGeom>
          <a:solidFill>
            <a:srgbClr val="D9E1D4">
              <a:alpha val="90000"/>
            </a:srgbClr>
          </a:solidFill>
          <a:ln w="12700">
            <a:solidFill>
              <a:srgbClr val="D9E1D4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777240" y="685800"/>
            <a:ext cx="2743200" cy="2743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6E2D3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ДИПЛОМСКИ РАД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777240" y="1325880"/>
            <a:ext cx="9326880" cy="21031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25222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Библиотека за аутентификацију</a:t>
            </a:r>
            <a:endParaRPr lang="en-US" sz="2800" dirty="0"/>
          </a:p>
          <a:p>
            <a:pPr marL="0" indent="0" algn="l">
              <a:buNone/>
            </a:pPr>
            <a:r>
              <a:rPr lang="en-US" sz="2800" b="1" dirty="0">
                <a:solidFill>
                  <a:srgbClr val="25222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микросервисне комуникације</a:t>
            </a:r>
            <a:endParaRPr lang="en-US" sz="2800" dirty="0"/>
          </a:p>
          <a:p>
            <a:pPr marL="0" indent="0" algn="l">
              <a:buNone/>
            </a:pPr>
            <a:r>
              <a:rPr lang="en-US" sz="2800" b="1" dirty="0">
                <a:solidFill>
                  <a:srgbClr val="25222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коришћењем метода Zero-Knowledge Proofs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777240" y="3703320"/>
            <a:ext cx="1645920" cy="0"/>
          </a:xfrm>
          <a:prstGeom prst="line">
            <a:avLst/>
          </a:prstGeom>
          <a:noFill/>
          <a:ln w="50800">
            <a:solidFill>
              <a:srgbClr val="C6A06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777240" y="4005072"/>
            <a:ext cx="4846320" cy="3200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25222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Наташа Кашиковић · SV69/2022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77240" y="4416552"/>
            <a:ext cx="5669280" cy="2743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l">
              <a:buNone/>
            </a:pPr>
            <a:r>
              <a:rPr lang="en-US" sz="1250" dirty="0">
                <a:solidFill>
                  <a:srgbClr val="766C68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Ментор: др Горан Савић, редовни професор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777240" y="5897880"/>
            <a:ext cx="5486400" cy="2743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766C68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Факултет техничких наука · Нови Сад, 2026.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19088"/>
            <a:ext cx="32004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766C68"/>
                </a:solidFill>
                <a:latin typeface="Noto Sans"/>
                <a:ea typeface="Noto Sans"/>
                <a:cs typeface="Noto Sans"/>
              </a:defRPr>
            </a:lvl1pPr>
          </a:lstStyle>
          <a:p>
            <a: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347472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110" dirty="0">
                <a:solidFill>
                  <a:srgbClr val="6E2D3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МОТИВАЦИЈА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85800" y="658368"/>
            <a:ext cx="10744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25222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Аутентификација је предуслов повјерења између сервиса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85800" y="1353312"/>
            <a:ext cx="10424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766C68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У микросервисној архитектури границе процеса постају и безбједносне границе.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731520" y="2011680"/>
            <a:ext cx="2926080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12700">
            <a:solidFill>
              <a:srgbClr val="E1D9D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896112" y="2194560"/>
            <a:ext cx="45720" cy="1965960"/>
          </a:xfrm>
          <a:prstGeom prst="rect">
            <a:avLst/>
          </a:prstGeom>
          <a:solidFill>
            <a:srgbClr val="6E2D3A"/>
          </a:solidFill>
          <a:ln w="12700">
            <a:solidFill>
              <a:srgbClr val="6E2D3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1078992" y="2176272"/>
            <a:ext cx="2423160" cy="329184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6E2D3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Независни сервиси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78992" y="2578608"/>
            <a:ext cx="2395728" cy="161848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marL="0" indent="0" algn="l">
              <a:buNone/>
            </a:pPr>
            <a:r>
              <a:rPr lang="en-US" sz="1150" dirty="0">
                <a:solidFill>
                  <a:srgbClr val="25222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Функционалности су распоређене у више компоненти које се развијају и покрећу независно.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617720" y="2011680"/>
            <a:ext cx="2926080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12700">
            <a:solidFill>
              <a:srgbClr val="E1D9D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4782312" y="2194560"/>
            <a:ext cx="45720" cy="1965960"/>
          </a:xfrm>
          <a:prstGeom prst="rect">
            <a:avLst/>
          </a:prstGeom>
          <a:solidFill>
            <a:srgbClr val="C6A06B"/>
          </a:solidFill>
          <a:ln w="12700">
            <a:solidFill>
              <a:srgbClr val="C6A06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4965192" y="2176272"/>
            <a:ext cx="2423160" cy="329184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6E2D3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Мрежна комуникација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965192" y="2578608"/>
            <a:ext cx="2395728" cy="161848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marL="0" indent="0" algn="l">
              <a:buNone/>
            </a:pPr>
            <a:r>
              <a:rPr lang="en-US" sz="1150" dirty="0">
                <a:solidFill>
                  <a:srgbClr val="25222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Сервиси размјењују податке HTTP захтјевима, па прималац мора знати ко му се обраћа.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503920" y="2011680"/>
            <a:ext cx="2926080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12700">
            <a:solidFill>
              <a:srgbClr val="E1D9D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Shape 12"/>
          <p:cNvSpPr/>
          <p:nvPr/>
        </p:nvSpPr>
        <p:spPr>
          <a:xfrm>
            <a:off x="8668512" y="2194560"/>
            <a:ext cx="45720" cy="1965960"/>
          </a:xfrm>
          <a:prstGeom prst="rect">
            <a:avLst/>
          </a:prstGeom>
          <a:solidFill>
            <a:srgbClr val="58705B"/>
          </a:solidFill>
          <a:ln w="12700">
            <a:solidFill>
              <a:srgbClr val="58705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8851392" y="2176272"/>
            <a:ext cx="2423160" cy="329184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6E2D3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Провјера идентитета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851392" y="2578608"/>
            <a:ext cx="2395728" cy="161848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marL="0" indent="0" algn="l">
              <a:buNone/>
            </a:pPr>
            <a:r>
              <a:rPr lang="en-US" sz="1150" dirty="0">
                <a:solidFill>
                  <a:srgbClr val="25222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Прије извршавања операције потребно је утврдити да захтјев долази од овлашћеног сервиса.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3703320" y="3182112"/>
            <a:ext cx="731520" cy="0"/>
          </a:xfrm>
          <a:prstGeom prst="line">
            <a:avLst/>
          </a:prstGeom>
          <a:noFill/>
          <a:ln w="25400">
            <a:solidFill>
              <a:srgbClr val="C6A06B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8" name="Shape 16"/>
          <p:cNvSpPr/>
          <p:nvPr/>
        </p:nvSpPr>
        <p:spPr>
          <a:xfrm>
            <a:off x="7589520" y="3182112"/>
            <a:ext cx="731520" cy="0"/>
          </a:xfrm>
          <a:prstGeom prst="line">
            <a:avLst/>
          </a:prstGeom>
          <a:noFill/>
          <a:ln w="25400">
            <a:solidFill>
              <a:srgbClr val="C6A06B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9" name="Text 17"/>
          <p:cNvSpPr/>
          <p:nvPr/>
        </p:nvSpPr>
        <p:spPr>
          <a:xfrm>
            <a:off x="1051560" y="5074920"/>
            <a:ext cx="10058400" cy="548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6E2D3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Кључно питање: како сервис доказује свој идентитет?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19088"/>
            <a:ext cx="32004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766C68"/>
                </a:solidFill>
                <a:latin typeface="Noto Sans"/>
                <a:ea typeface="Noto Sans"/>
                <a:cs typeface="Noto Sans"/>
              </a:defRPr>
            </a:lvl1pPr>
          </a:lstStyle>
          <a:p>
            <a: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347472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110" dirty="0">
                <a:solidFill>
                  <a:srgbClr val="6E2D3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ПОСТОЈЕЋИ ПРИСТУПИ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85800" y="658368"/>
            <a:ext cx="10744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t>Постојећи механизми рјешавају идентитет, али захтијевају заштиту осјетљивог аутентификационог материјала</a:t>
            </a:r>
          </a:p>
        </p:txBody>
      </p:sp>
      <p:sp>
        <p:nvSpPr>
          <p:cNvPr id="4" name="Text 2"/>
          <p:cNvSpPr/>
          <p:nvPr/>
        </p:nvSpPr>
        <p:spPr>
          <a:xfrm>
            <a:off x="685800" y="1353312"/>
            <a:ext cx="10424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766C68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Сваки приступ рјешава проблем идентитета, али управља различитим осјетљивим материјалом.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731520" y="1965960"/>
            <a:ext cx="3383280" cy="3246120"/>
          </a:xfrm>
          <a:prstGeom prst="roundRect">
            <a:avLst>
              <a:gd name="adj" fmla="val 2254"/>
            </a:avLst>
          </a:prstGeom>
          <a:solidFill>
            <a:srgbClr val="F1E9DE"/>
          </a:solidFill>
          <a:ln w="12700">
            <a:solidFill>
              <a:srgbClr val="E1D9D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896112" y="2148840"/>
            <a:ext cx="45720" cy="2880360"/>
          </a:xfrm>
          <a:prstGeom prst="rect">
            <a:avLst/>
          </a:prstGeom>
          <a:solidFill>
            <a:srgbClr val="6E2D3A"/>
          </a:solidFill>
          <a:ln w="12700">
            <a:solidFill>
              <a:srgbClr val="6E2D3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1078992" y="2130552"/>
            <a:ext cx="2880360" cy="329184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6E2D3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API кључ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78992" y="2532888"/>
            <a:ext cx="2852928" cy="22402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marL="0" indent="0" algn="l">
              <a:buNone/>
            </a:pPr>
            <a:r>
              <a:rPr lang="en-US" sz="1150" dirty="0">
                <a:solidFill>
                  <a:srgbClr val="25222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Тајна вриједност се додјељује сервису и презентује примаоцу.</a:t>
            </a:r>
            <a:endParaRPr lang="en-US" sz="1150" dirty="0"/>
          </a:p>
          <a:p>
            <a:pPr marL="0" indent="0" algn="l">
              <a:buNone/>
            </a:pPr>
            <a:endParaRPr lang="en-US" sz="1150" dirty="0"/>
          </a:p>
          <a:p>
            <a:pPr marL="0" indent="0" algn="l">
              <a:buNone/>
            </a:pPr>
            <a:r>
              <a:rPr lang="en-US" sz="1150" dirty="0">
                <a:solidFill>
                  <a:srgbClr val="25222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+ једноставна провјера</a:t>
            </a:r>
            <a:endParaRPr lang="en-US" sz="1150" dirty="0"/>
          </a:p>
          <a:p>
            <a:pPr marL="0" indent="0" algn="l">
              <a:buNone/>
            </a:pPr>
            <a:r>
              <a:rPr lang="en-US" sz="1150" dirty="0">
                <a:solidFill>
                  <a:srgbClr val="25222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- кључ мора бити безбједно чуван и преношен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407408" y="1965960"/>
            <a:ext cx="3383280" cy="3246120"/>
          </a:xfrm>
          <a:prstGeom prst="roundRect">
            <a:avLst>
              <a:gd name="adj" fmla="val 2254"/>
            </a:avLst>
          </a:prstGeom>
          <a:solidFill>
            <a:srgbClr val="E8D6D5"/>
          </a:solidFill>
          <a:ln w="12700">
            <a:solidFill>
              <a:srgbClr val="E1D9D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4572000" y="2148840"/>
            <a:ext cx="45720" cy="2880360"/>
          </a:xfrm>
          <a:prstGeom prst="rect">
            <a:avLst/>
          </a:prstGeom>
          <a:solidFill>
            <a:srgbClr val="C6A06B"/>
          </a:solidFill>
          <a:ln w="12700">
            <a:solidFill>
              <a:srgbClr val="C6A06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4754880" y="2130552"/>
            <a:ext cx="2880360" cy="329184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6E2D3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JWT / приступни токен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754880" y="2532888"/>
            <a:ext cx="2852928" cy="22402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marL="0" indent="0" algn="l">
              <a:buNone/>
            </a:pPr>
            <a:r>
              <a:rPr lang="en-US" sz="1150" dirty="0">
                <a:solidFill>
                  <a:srgbClr val="25222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Токен носи claims и има ограничено вријеме важења.</a:t>
            </a:r>
            <a:endParaRPr lang="en-US" sz="1150" dirty="0"/>
          </a:p>
          <a:p>
            <a:pPr marL="0" indent="0" algn="l">
              <a:buNone/>
            </a:pPr>
            <a:endParaRPr lang="en-US" sz="1150" dirty="0"/>
          </a:p>
          <a:p>
            <a:pPr marL="0" indent="0" algn="l">
              <a:buNone/>
            </a:pPr>
            <a:r>
              <a:rPr lang="en-US" sz="1150" dirty="0">
                <a:solidFill>
                  <a:srgbClr val="25222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+ флексибилан формат</a:t>
            </a:r>
            <a:endParaRPr lang="en-US" sz="1150" dirty="0"/>
          </a:p>
          <a:p>
            <a:pPr marL="0" indent="0" algn="l">
              <a:buNone/>
            </a:pPr>
            <a:r>
              <a:rPr lang="en-US" sz="1150" dirty="0">
                <a:solidFill>
                  <a:srgbClr val="25222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- важећи украдени токен може бити злоупотријебљен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083296" y="1965960"/>
            <a:ext cx="3383280" cy="3246120"/>
          </a:xfrm>
          <a:prstGeom prst="roundRect">
            <a:avLst>
              <a:gd name="adj" fmla="val 2254"/>
            </a:avLst>
          </a:prstGeom>
          <a:solidFill>
            <a:srgbClr val="D9E1D4"/>
          </a:solidFill>
          <a:ln w="12700">
            <a:solidFill>
              <a:srgbClr val="E1D9D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Shape 12"/>
          <p:cNvSpPr/>
          <p:nvPr/>
        </p:nvSpPr>
        <p:spPr>
          <a:xfrm>
            <a:off x="8247888" y="2148840"/>
            <a:ext cx="45720" cy="2880360"/>
          </a:xfrm>
          <a:prstGeom prst="rect">
            <a:avLst/>
          </a:prstGeom>
          <a:solidFill>
            <a:srgbClr val="58705B"/>
          </a:solidFill>
          <a:ln w="12700">
            <a:solidFill>
              <a:srgbClr val="58705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8430768" y="2130552"/>
            <a:ext cx="2880360" cy="329184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6E2D3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mTLS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430768" y="2532888"/>
            <a:ext cx="2852928" cy="22402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marL="0" indent="0" algn="l">
              <a:buNone/>
            </a:pPr>
            <a:r>
              <a:rPr lang="en-US" sz="1150" dirty="0">
                <a:solidFill>
                  <a:srgbClr val="25222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Обје стране се аутентификују сертификатима током TLS комуникације.</a:t>
            </a:r>
            <a:endParaRPr lang="en-US" sz="1150" dirty="0"/>
          </a:p>
          <a:p>
            <a:pPr marL="0" indent="0" algn="l">
              <a:buNone/>
            </a:pPr>
            <a:endParaRPr lang="en-US" sz="1150" dirty="0"/>
          </a:p>
          <a:p>
            <a:pPr marL="0" indent="0" algn="l">
              <a:buNone/>
            </a:pPr>
            <a:r>
              <a:rPr lang="en-US" sz="1150" dirty="0">
                <a:solidFill>
                  <a:srgbClr val="25222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+ јака међусобна аутентификација</a:t>
            </a:r>
            <a:endParaRPr lang="en-US" sz="1150" dirty="0"/>
          </a:p>
          <a:p>
            <a:pPr marL="0" indent="0" algn="l">
              <a:buNone/>
            </a:pPr>
            <a:r>
              <a:rPr lang="en-US" sz="1150" dirty="0">
                <a:solidFill>
                  <a:srgbClr val="25222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- управљање сертификатима и приватним кључевима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19088"/>
            <a:ext cx="32004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766C68"/>
                </a:solidFill>
                <a:latin typeface="Noto Sans"/>
                <a:ea typeface="Noto Sans"/>
                <a:cs typeface="Noto Sans"/>
              </a:defRPr>
            </a:lvl1pPr>
          </a:lstStyle>
          <a:p>
            <a:r>
              <a:t>3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51560" y="5138928"/>
            <a:ext cx="10104120" cy="18288"/>
          </a:xfrm>
          <a:prstGeom prst="rect">
            <a:avLst/>
          </a:prstGeom>
          <a:solidFill>
            <a:srgbClr val="D3B7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1097280" y="5266944"/>
            <a:ext cx="10058400" cy="5029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600" b="1">
                <a:solidFill>
                  <a:srgbClr val="5C412B"/>
                </a:solidFill>
                <a:latin typeface="Aptos"/>
              </a:rPr>
              <a:t>Може ли сервис доказати да посједује тајну — без откривања саме тајне?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347472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110" dirty="0">
                <a:solidFill>
                  <a:srgbClr val="6E2D3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ZERO-KNOWLEDGE PROOF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85800" y="658368"/>
            <a:ext cx="10744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25222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Доказ знања без откривања тајне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85800" y="1353312"/>
            <a:ext cx="10424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766C68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Провјерилац добија увјерење да тврдња важи, али не и приватну информацију.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777240" y="2103120"/>
            <a:ext cx="2834640" cy="2194560"/>
          </a:xfrm>
          <a:prstGeom prst="roundRect">
            <a:avLst>
              <a:gd name="adj" fmla="val 3333"/>
            </a:avLst>
          </a:prstGeom>
          <a:solidFill>
            <a:srgbClr val="F1E9DE"/>
          </a:solidFill>
          <a:ln w="12700">
            <a:solidFill>
              <a:srgbClr val="E1D9D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941832" y="2286000"/>
            <a:ext cx="45720" cy="1828800"/>
          </a:xfrm>
          <a:prstGeom prst="rect">
            <a:avLst/>
          </a:prstGeom>
          <a:solidFill>
            <a:srgbClr val="6E2D3A"/>
          </a:solidFill>
          <a:ln w="12700">
            <a:solidFill>
              <a:srgbClr val="6E2D3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1124712" y="2267712"/>
            <a:ext cx="2331720" cy="329184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6E2D3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Доказивач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124712" y="2670048"/>
            <a:ext cx="2304288" cy="148132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marL="0" indent="0" algn="l">
              <a:buNone/>
            </a:pPr>
            <a:r>
              <a:rPr lang="en-US" sz="1150" dirty="0">
                <a:solidFill>
                  <a:srgbClr val="25222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Посједује приватну информацију / свједока x.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663440" y="2103120"/>
            <a:ext cx="2834640" cy="2194560"/>
          </a:xfrm>
          <a:prstGeom prst="roundRect">
            <a:avLst>
              <a:gd name="adj" fmla="val 3333"/>
            </a:avLst>
          </a:prstGeom>
          <a:solidFill>
            <a:srgbClr val="E8D6D5"/>
          </a:solidFill>
          <a:ln w="12700">
            <a:solidFill>
              <a:srgbClr val="E1D9D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4828032" y="2286000"/>
            <a:ext cx="45720" cy="1828800"/>
          </a:xfrm>
          <a:prstGeom prst="rect">
            <a:avLst/>
          </a:prstGeom>
          <a:solidFill>
            <a:srgbClr val="C6A06B"/>
          </a:solidFill>
          <a:ln w="12700">
            <a:solidFill>
              <a:srgbClr val="C6A06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5010912" y="2267712"/>
            <a:ext cx="2331720" cy="329184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6E2D3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Криптографски доказ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5010912" y="2670048"/>
            <a:ext cx="2304288" cy="148132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marL="0" indent="0" algn="l">
              <a:buNone/>
            </a:pPr>
            <a:r>
              <a:rPr lang="en-US" sz="1150" dirty="0">
                <a:solidFill>
                  <a:srgbClr val="25222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Формира се коришћењем тајне, али је не открива.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549640" y="2103120"/>
            <a:ext cx="2834640" cy="2194560"/>
          </a:xfrm>
          <a:prstGeom prst="roundRect">
            <a:avLst>
              <a:gd name="adj" fmla="val 3333"/>
            </a:avLst>
          </a:prstGeom>
          <a:solidFill>
            <a:srgbClr val="D9E1D4"/>
          </a:solidFill>
          <a:ln w="12700">
            <a:solidFill>
              <a:srgbClr val="E1D9D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Shape 12"/>
          <p:cNvSpPr/>
          <p:nvPr/>
        </p:nvSpPr>
        <p:spPr>
          <a:xfrm>
            <a:off x="8714232" y="2286000"/>
            <a:ext cx="45720" cy="1828800"/>
          </a:xfrm>
          <a:prstGeom prst="rect">
            <a:avLst/>
          </a:prstGeom>
          <a:solidFill>
            <a:srgbClr val="58705B"/>
          </a:solidFill>
          <a:ln w="12700">
            <a:solidFill>
              <a:srgbClr val="58705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8897112" y="2267712"/>
            <a:ext cx="2331720" cy="329184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6E2D3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Провјерилац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897112" y="2670048"/>
            <a:ext cx="2304288" cy="148132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marL="0" indent="0" algn="l">
              <a:buNone/>
            </a:pPr>
            <a:r>
              <a:rPr lang="en-US" sz="1150" dirty="0">
                <a:solidFill>
                  <a:srgbClr val="25222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Користи доказ и јавне податке да прихвати или одбије тврдњу.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3703320" y="3200400"/>
            <a:ext cx="777240" cy="0"/>
          </a:xfrm>
          <a:prstGeom prst="line">
            <a:avLst/>
          </a:prstGeom>
          <a:noFill/>
          <a:ln w="25400">
            <a:solidFill>
              <a:srgbClr val="C6A06B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8" name="Shape 16"/>
          <p:cNvSpPr/>
          <p:nvPr/>
        </p:nvSpPr>
        <p:spPr>
          <a:xfrm>
            <a:off x="7589520" y="3200400"/>
            <a:ext cx="777240" cy="0"/>
          </a:xfrm>
          <a:prstGeom prst="line">
            <a:avLst/>
          </a:prstGeom>
          <a:noFill/>
          <a:ln w="25400">
            <a:solidFill>
              <a:srgbClr val="C6A06B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9" name="Shape 17"/>
          <p:cNvSpPr/>
          <p:nvPr/>
        </p:nvSpPr>
        <p:spPr>
          <a:xfrm>
            <a:off x="5029200" y="4892040"/>
            <a:ext cx="2103120" cy="384048"/>
          </a:xfrm>
          <a:prstGeom prst="roundRect">
            <a:avLst/>
          </a:prstGeom>
          <a:solidFill>
            <a:srgbClr val="6E2D3A"/>
          </a:solidFill>
          <a:ln w="12700">
            <a:solidFill>
              <a:srgbClr val="6E2D3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Text 18"/>
          <p:cNvSpPr/>
          <p:nvPr/>
        </p:nvSpPr>
        <p:spPr>
          <a:xfrm>
            <a:off x="5029200" y="4892040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x се не шаље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19088"/>
            <a:ext cx="32004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766C68"/>
                </a:solidFill>
                <a:latin typeface="Noto Sans"/>
                <a:ea typeface="Noto Sans"/>
                <a:cs typeface="Noto Sans"/>
              </a:defRPr>
            </a:lvl1pPr>
          </a:lstStyle>
          <a:p>
            <a:r>
              <a:t>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347472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110" dirty="0">
                <a:solidFill>
                  <a:srgbClr val="6E2D3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ОСНОВЕ ZKP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85800" y="658368"/>
            <a:ext cx="10744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25222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Три особине које ZKP протокол мора да задовољи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777240" y="1965960"/>
            <a:ext cx="3337560" cy="3246120"/>
          </a:xfrm>
          <a:prstGeom prst="roundRect">
            <a:avLst>
              <a:gd name="adj" fmla="val 2254"/>
            </a:avLst>
          </a:prstGeom>
          <a:solidFill>
            <a:srgbClr val="F1E9DE"/>
          </a:solidFill>
          <a:ln w="12700">
            <a:solidFill>
              <a:srgbClr val="E1D9D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941832" y="2148840"/>
            <a:ext cx="45720" cy="2880360"/>
          </a:xfrm>
          <a:prstGeom prst="rect">
            <a:avLst/>
          </a:prstGeom>
          <a:solidFill>
            <a:srgbClr val="6E2D3A"/>
          </a:solidFill>
          <a:ln w="12700">
            <a:solidFill>
              <a:srgbClr val="6E2D3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1124712" y="2130552"/>
            <a:ext cx="2834640" cy="329184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6E2D3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01 · Потпуност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124712" y="2532888"/>
            <a:ext cx="2807208" cy="253288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marL="0" indent="0" algn="l">
              <a:buNone/>
            </a:pPr>
            <a:r>
              <a:rPr lang="en-US" sz="1150" dirty="0">
                <a:solidFill>
                  <a:srgbClr val="25222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Ако доказивач заиста посједује потребну информацију и протокол се исправно извршава, исправан доказ се прихвата.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425696" y="1965960"/>
            <a:ext cx="3337560" cy="3246120"/>
          </a:xfrm>
          <a:prstGeom prst="roundRect">
            <a:avLst>
              <a:gd name="adj" fmla="val 2254"/>
            </a:avLst>
          </a:prstGeom>
          <a:solidFill>
            <a:srgbClr val="E8D6D5"/>
          </a:solidFill>
          <a:ln w="12700">
            <a:solidFill>
              <a:srgbClr val="E1D9D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4590288" y="2148840"/>
            <a:ext cx="45720" cy="2880360"/>
          </a:xfrm>
          <a:prstGeom prst="rect">
            <a:avLst/>
          </a:prstGeom>
          <a:solidFill>
            <a:srgbClr val="C6A06B"/>
          </a:solidFill>
          <a:ln w="12700">
            <a:solidFill>
              <a:srgbClr val="C6A06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4773168" y="2130552"/>
            <a:ext cx="2834640" cy="329184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6E2D3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02 · Поузданост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773168" y="2532888"/>
            <a:ext cx="2807208" cy="253288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marL="0" indent="0" algn="l">
              <a:buNone/>
            </a:pPr>
            <a:r>
              <a:rPr lang="en-US" sz="1150" dirty="0">
                <a:solidFill>
                  <a:srgbClr val="25222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Страна која не познаје тајну не треба да може да увјери провјериоца у нетачну тврдњу, осим са занемарљивом вјероватноћом.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074152" y="1965960"/>
            <a:ext cx="3337560" cy="3246120"/>
          </a:xfrm>
          <a:prstGeom prst="roundRect">
            <a:avLst>
              <a:gd name="adj" fmla="val 2254"/>
            </a:avLst>
          </a:prstGeom>
          <a:solidFill>
            <a:srgbClr val="D9E1D4"/>
          </a:solidFill>
          <a:ln w="12700">
            <a:solidFill>
              <a:srgbClr val="E1D9D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Shape 11"/>
          <p:cNvSpPr/>
          <p:nvPr/>
        </p:nvSpPr>
        <p:spPr>
          <a:xfrm>
            <a:off x="8238744" y="2148840"/>
            <a:ext cx="45720" cy="2880360"/>
          </a:xfrm>
          <a:prstGeom prst="rect">
            <a:avLst/>
          </a:prstGeom>
          <a:solidFill>
            <a:srgbClr val="58705B"/>
          </a:solidFill>
          <a:ln w="12700">
            <a:solidFill>
              <a:srgbClr val="58705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8421624" y="2130552"/>
            <a:ext cx="2834640" cy="329184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6E2D3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03 · Нулто знање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421624" y="2532888"/>
            <a:ext cx="2807208" cy="253288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marL="0" indent="0" algn="l">
              <a:buNone/>
            </a:pPr>
            <a:r>
              <a:rPr lang="en-US" sz="1150" dirty="0">
                <a:solidFill>
                  <a:srgbClr val="25222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Провјерилац не сазнаје саму тајну - само чињеницу да доказивач може да докаже тражену тврдњу.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19088"/>
            <a:ext cx="32004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766C68"/>
                </a:solidFill>
                <a:latin typeface="Noto Sans"/>
                <a:ea typeface="Noto Sans"/>
                <a:cs typeface="Noto Sans"/>
              </a:defRPr>
            </a:lvl1pPr>
          </a:lstStyle>
          <a:p>
            <a:r>
              <a:t>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347472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110" dirty="0">
                <a:solidFill>
                  <a:srgbClr val="6E2D3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ПОДЈЕЛА ZKP ПРОТОКОЛА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85800" y="658368"/>
            <a:ext cx="10744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25222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Интерактивни доказ: commitment - challenge - response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914400" y="1828800"/>
            <a:ext cx="2011680" cy="3200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6E2D3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ДОКАЗИВАЧ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9144000" y="1828800"/>
            <a:ext cx="2011680" cy="3200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6E2D3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ПРОВЈЕРИЛАЦ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22392" y="2377440"/>
            <a:ext cx="438912" cy="384048"/>
          </a:xfrm>
          <a:prstGeom prst="roundRect">
            <a:avLst/>
          </a:prstGeom>
          <a:solidFill>
            <a:srgbClr val="C6A06B"/>
          </a:solidFill>
          <a:ln w="12700">
            <a:solidFill>
              <a:srgbClr val="C6A06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5422392" y="2377440"/>
            <a:ext cx="4389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4617720" y="2377440"/>
            <a:ext cx="2011680" cy="38404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5222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commitment R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194560" y="2423160"/>
            <a:ext cx="6949440" cy="0"/>
          </a:xfrm>
          <a:prstGeom prst="line">
            <a:avLst/>
          </a:prstGeom>
          <a:noFill/>
          <a:ln w="25400">
            <a:solidFill>
              <a:srgbClr val="6E2D3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5422392" y="3383280"/>
            <a:ext cx="438912" cy="384048"/>
          </a:xfrm>
          <a:prstGeom prst="roundRect">
            <a:avLst/>
          </a:prstGeom>
          <a:solidFill>
            <a:srgbClr val="C6A06B"/>
          </a:solidFill>
          <a:ln w="12700">
            <a:solidFill>
              <a:srgbClr val="C6A06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5422392" y="3383280"/>
            <a:ext cx="4389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2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617720" y="3383280"/>
            <a:ext cx="2011680" cy="38404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5222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challenge c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9144000" y="3429000"/>
            <a:ext cx="0" cy="0"/>
          </a:xfrm>
          <a:prstGeom prst="line">
            <a:avLst/>
          </a:prstGeom>
          <a:noFill/>
          <a:ln w="25400">
            <a:solidFill>
              <a:srgbClr val="6E2D3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4" name="Shape 12"/>
          <p:cNvSpPr/>
          <p:nvPr/>
        </p:nvSpPr>
        <p:spPr>
          <a:xfrm>
            <a:off x="5422392" y="4389120"/>
            <a:ext cx="438912" cy="384048"/>
          </a:xfrm>
          <a:prstGeom prst="roundRect">
            <a:avLst/>
          </a:prstGeom>
          <a:solidFill>
            <a:srgbClr val="C6A06B"/>
          </a:solidFill>
          <a:ln w="12700">
            <a:solidFill>
              <a:srgbClr val="C6A06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5422392" y="4389120"/>
            <a:ext cx="4389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3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4617720" y="4389120"/>
            <a:ext cx="2011680" cy="38404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5222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response z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194560" y="4434840"/>
            <a:ext cx="6949440" cy="0"/>
          </a:xfrm>
          <a:prstGeom prst="line">
            <a:avLst/>
          </a:prstGeom>
          <a:noFill/>
          <a:ln w="25400">
            <a:solidFill>
              <a:srgbClr val="6E2D3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8" name="Text 16"/>
          <p:cNvSpPr/>
          <p:nvPr/>
        </p:nvSpPr>
        <p:spPr>
          <a:xfrm>
            <a:off x="1234440" y="5394960"/>
            <a:ext cx="973836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1400" dirty="0">
                <a:solidFill>
                  <a:srgbClr val="766C68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Провјерилац активно учествује у процесу доказивања и генерише непредвидив изазов.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19088"/>
            <a:ext cx="32004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766C68"/>
                </a:solidFill>
                <a:latin typeface="Noto Sans"/>
                <a:ea typeface="Noto Sans"/>
                <a:cs typeface="Noto Sans"/>
              </a:defRPr>
            </a:lvl1pPr>
          </a:lstStyle>
          <a:p>
            <a:r>
              <a:t>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347472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110" dirty="0">
                <a:solidFill>
                  <a:srgbClr val="6E2D3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ПОДЈЕЛА ZKP ПРОТОКОЛА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85800" y="658368"/>
            <a:ext cx="10744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t>Од интерактивне размјене до доказа који путује са HTTP захтјевом</a:t>
            </a:r>
          </a:p>
        </p:txBody>
      </p:sp>
      <p:sp>
        <p:nvSpPr>
          <p:cNvPr id="4" name="Shape 2"/>
          <p:cNvSpPr/>
          <p:nvPr/>
        </p:nvSpPr>
        <p:spPr>
          <a:xfrm>
            <a:off x="822960" y="1965960"/>
            <a:ext cx="4709160" cy="3291840"/>
          </a:xfrm>
          <a:prstGeom prst="roundRect">
            <a:avLst>
              <a:gd name="adj" fmla="val 2222"/>
            </a:avLst>
          </a:prstGeom>
          <a:solidFill>
            <a:srgbClr val="E8D6D5"/>
          </a:solidFill>
          <a:ln w="12700">
            <a:solidFill>
              <a:srgbClr val="E1D9D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987552" y="2148840"/>
            <a:ext cx="45720" cy="2926080"/>
          </a:xfrm>
          <a:prstGeom prst="rect">
            <a:avLst/>
          </a:prstGeom>
          <a:solidFill>
            <a:srgbClr val="6E2D3A"/>
          </a:solidFill>
          <a:ln w="12700">
            <a:solidFill>
              <a:srgbClr val="6E2D3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1170432" y="2130552"/>
            <a:ext cx="4206240" cy="329184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6E2D3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Интерактивни приступ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170432" y="2532888"/>
            <a:ext cx="4178808" cy="257860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r>
              <a:t>Service A  → commitment R</a:t>
            </a:r>
          </a:p>
          <a:p>
            <a:r>
              <a:t>Service B  → challenge c</a:t>
            </a:r>
          </a:p>
          <a:p>
            <a:r>
              <a:t>Service A  → response z</a:t>
            </a:r>
          </a:p>
          <a:p>
            <a:r>
              <a:t>Service B  → провјера</a:t>
            </a:r>
          </a:p>
          <a:p>
            <a:endParaRPr/>
          </a:p>
          <a:p>
            <a:r>
              <a:t>Три корака размјене прије провјере.</a:t>
            </a:r>
          </a:p>
        </p:txBody>
      </p:sp>
      <p:sp>
        <p:nvSpPr>
          <p:cNvPr id="8" name="Shape 6"/>
          <p:cNvSpPr/>
          <p:nvPr/>
        </p:nvSpPr>
        <p:spPr>
          <a:xfrm>
            <a:off x="6629400" y="1965960"/>
            <a:ext cx="4709160" cy="3291840"/>
          </a:xfrm>
          <a:prstGeom prst="roundRect">
            <a:avLst>
              <a:gd name="adj" fmla="val 2222"/>
            </a:avLst>
          </a:prstGeom>
          <a:solidFill>
            <a:srgbClr val="D9E1D4"/>
          </a:solidFill>
          <a:ln w="12700">
            <a:solidFill>
              <a:srgbClr val="E1D9D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6793992" y="2148840"/>
            <a:ext cx="45720" cy="2926080"/>
          </a:xfrm>
          <a:prstGeom prst="rect">
            <a:avLst/>
          </a:prstGeom>
          <a:solidFill>
            <a:srgbClr val="58705B"/>
          </a:solidFill>
          <a:ln w="12700">
            <a:solidFill>
              <a:srgbClr val="58705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6976872" y="2130552"/>
            <a:ext cx="4206240" cy="329184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6E2D3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Неинтерактивни приступ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976872" y="2532888"/>
            <a:ext cx="4178808" cy="257860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marL="0" indent="0" algn="l">
              <a:buNone/>
            </a:pPr>
            <a:r>
              <a:rPr lang="en-US" sz="1150" dirty="0">
                <a:solidFill>
                  <a:srgbClr val="25222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Service A  → HTTP захтјев + доказ</a:t>
            </a:r>
            <a:endParaRPr lang="en-US" sz="1150" dirty="0"/>
          </a:p>
          <a:p>
            <a:pPr marL="0" indent="0" algn="l">
              <a:buNone/>
            </a:pPr>
            <a:r>
              <a:rPr lang="en-US" sz="1150" dirty="0">
                <a:solidFill>
                  <a:srgbClr val="25222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Service B  → провјера</a:t>
            </a:r>
            <a:endParaRPr lang="en-US" sz="1150" dirty="0"/>
          </a:p>
          <a:p>
            <a:pPr marL="0" indent="0" algn="l">
              <a:buNone/>
            </a:pPr>
            <a:endParaRPr lang="en-US" sz="1150" dirty="0"/>
          </a:p>
          <a:p>
            <a:pPr marL="0" indent="0" algn="l">
              <a:buNone/>
            </a:pPr>
            <a:r>
              <a:rPr lang="en-US" sz="1150" dirty="0">
                <a:solidFill>
                  <a:srgbClr val="25222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Доказивач самостално формира доказ, а провјерилац га накнадно провјерава.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97280" y="5577840"/>
            <a:ext cx="9966960" cy="4114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6E2D3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За међусервисни HTTP позив пожељан је доказ који може путовати са самим захтјевом.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19088"/>
            <a:ext cx="32004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766C68"/>
                </a:solidFill>
                <a:latin typeface="Noto Sans"/>
                <a:ea typeface="Noto Sans"/>
                <a:cs typeface="Noto Sans"/>
              </a:defRPr>
            </a:lvl1pPr>
          </a:lstStyle>
          <a:p>
            <a:r>
              <a:t>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>
            <a:solidFill>
              <a:srgbClr val="FAF7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34747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6E2D3A"/>
                </a:solidFill>
                <a:latin typeface="Aptos"/>
              </a:rPr>
              <a:t>SCHNORR ПРОТОКОЛ — ФОРМИРАЊЕ И ПРОВЈЕРА ДОКАЗА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941832"/>
            <a:ext cx="10789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706662"/>
                </a:solidFill>
                <a:latin typeface="Aptos"/>
              </a:rPr>
              <a:t>Приватни кључ x   •   јавни кључ X = xG   •   G — генератор групе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508760"/>
            <a:ext cx="329184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C6A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68680" y="1673352"/>
            <a:ext cx="1554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6E2D3A"/>
                </a:solidFill>
                <a:latin typeface="Aptos"/>
              </a:rPr>
              <a:t>1  COMMITMENT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23160" y="1627632"/>
            <a:ext cx="1143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B57E84"/>
                </a:solidFill>
                <a:latin typeface="Aptos"/>
              </a:rPr>
              <a:t>R = rG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670048"/>
            <a:ext cx="329184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C6A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68680" y="2834640"/>
            <a:ext cx="1554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6E2D3A"/>
                </a:solidFill>
                <a:latin typeface="Aptos"/>
              </a:rPr>
              <a:t>2  CHALLENGE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20" y="2770632"/>
            <a:ext cx="822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C6A06B"/>
                </a:solidFill>
                <a:latin typeface="Aptos"/>
              </a:rPr>
              <a:t>c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831336"/>
            <a:ext cx="329184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C6A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68680" y="3995928"/>
            <a:ext cx="1554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6E2D3A"/>
                </a:solidFill>
                <a:latin typeface="Aptos"/>
              </a:rPr>
              <a:t>3  RESPONSE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40280" y="3941063"/>
            <a:ext cx="1417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100" b="1">
                <a:solidFill>
                  <a:srgbClr val="6E2D3A"/>
                </a:solidFill>
                <a:latin typeface="Aptos"/>
              </a:rPr>
              <a:t>z = r + cx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51960" y="1508760"/>
            <a:ext cx="7269480" cy="4434840"/>
          </a:xfrm>
          <a:prstGeom prst="roundRect">
            <a:avLst/>
          </a:prstGeom>
          <a:solidFill>
            <a:srgbClr val="FFFFFF"/>
          </a:solidFill>
          <a:ln>
            <a:solidFill>
              <a:srgbClr val="B57E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572000" y="1755648"/>
            <a:ext cx="6583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486B5C"/>
                </a:solidFill>
                <a:latin typeface="Aptos"/>
              </a:rPr>
              <a:t>ЗАШТО ПРОВЈЕРА РАДИ?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21945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706662"/>
                </a:solidFill>
                <a:latin typeface="Aptos"/>
              </a:rPr>
              <a:t>Провјерилац провјерава: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0" y="2103120"/>
            <a:ext cx="37947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300" b="1">
                <a:solidFill>
                  <a:srgbClr val="486B5C"/>
                </a:solidFill>
                <a:latin typeface="Aptos"/>
              </a:rPr>
              <a:t>zG  =?  R + cX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278892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706662"/>
                </a:solidFill>
                <a:latin typeface="Aptos"/>
              </a:rPr>
              <a:t>Пошто је  z = r + cx: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37960" y="2724912"/>
            <a:ext cx="4206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6E2D3A"/>
                </a:solidFill>
                <a:latin typeface="Aptos"/>
              </a:rPr>
              <a:t>zG = (r + cx)G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37960" y="3255264"/>
            <a:ext cx="4206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B57E84"/>
                </a:solidFill>
                <a:latin typeface="Aptos"/>
              </a:rPr>
              <a:t>= rG + c(xG)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00600" y="3931920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B57E84"/>
                </a:solidFill>
                <a:latin typeface="Aptos"/>
              </a:rPr>
              <a:t>R = rG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95160" y="3931920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C6A06B"/>
                </a:solidFill>
                <a:latin typeface="Aptos"/>
              </a:rPr>
              <a:t>X = xG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79408" y="3922776"/>
            <a:ext cx="457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900" b="1">
                <a:solidFill>
                  <a:srgbClr val="706662"/>
                </a:solidFill>
                <a:latin typeface="Aptos"/>
              </a:rPr>
              <a:t>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72600" y="3904487"/>
            <a:ext cx="1737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900" b="1">
                <a:solidFill>
                  <a:srgbClr val="486B5C"/>
                </a:solidFill>
                <a:latin typeface="Aptos"/>
              </a:rPr>
              <a:t>zG = R + cX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4690872"/>
            <a:ext cx="64465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706662"/>
                </a:solidFill>
                <a:latin typeface="Aptos"/>
              </a:rPr>
              <a:t>Не „множимо обје стране обичним бројем G“: скалар z множи генератор G,
а затим користимо дистрибутивност скаларног множења у групи.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" y="6199632"/>
            <a:ext cx="10881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Доказ = (R, z)   •   приватни кључ x никада се не шаље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66928" y="1417320"/>
            <a:ext cx="3611880" cy="4480560"/>
          </a:xfrm>
          <a:prstGeom prst="roundRect">
            <a:avLst/>
          </a:prstGeom>
          <a:solidFill>
            <a:srgbClr val="FAF8F5"/>
          </a:solidFill>
          <a:ln w="12700">
            <a:solidFill>
              <a:srgbClr val="E1D6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713232" y="1572768"/>
            <a:ext cx="1234440" cy="310896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200" b="1">
                <a:solidFill>
                  <a:srgbClr val="533D2C"/>
                </a:solidFill>
                <a:latin typeface="Aptos"/>
              </a:rPr>
              <a:t>ДОКАЗИВАЧ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43200" y="1572768"/>
            <a:ext cx="1234440" cy="310896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200" b="1">
                <a:solidFill>
                  <a:srgbClr val="533D2C"/>
                </a:solidFill>
                <a:latin typeface="Aptos"/>
              </a:rPr>
              <a:t>ПРОВЈЕРИЛАЦ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1325880" y="1938528"/>
            <a:ext cx="0" cy="3319272"/>
          </a:xfrm>
          <a:prstGeom prst="line">
            <a:avLst/>
          </a:prstGeom>
          <a:ln w="12700">
            <a:solidFill>
              <a:srgbClr val="BEB4A9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3364992" y="1938528"/>
            <a:ext cx="0" cy="3319272"/>
          </a:xfrm>
          <a:prstGeom prst="line">
            <a:avLst/>
          </a:prstGeom>
          <a:ln w="12700">
            <a:solidFill>
              <a:srgbClr val="BEB4A9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749808" y="2020824"/>
            <a:ext cx="132588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000" b="1">
                <a:solidFill>
                  <a:srgbClr val="644B35"/>
                </a:solidFill>
                <a:latin typeface="Aptos"/>
              </a:rPr>
              <a:t>1  COMMITMENT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1417320" y="2331720"/>
            <a:ext cx="1828800" cy="0"/>
          </a:xfrm>
          <a:prstGeom prst="line">
            <a:avLst/>
          </a:prstGeom>
          <a:ln w="27940">
            <a:solidFill>
              <a:srgbClr val="9A704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1755648" y="1984248"/>
            <a:ext cx="1143000" cy="310896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500" b="1">
                <a:solidFill>
                  <a:srgbClr val="222222"/>
                </a:solidFill>
                <a:latin typeface="Aptos"/>
              </a:rPr>
              <a:t>R = rG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9808" y="3090672"/>
            <a:ext cx="132588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000" b="1">
                <a:solidFill>
                  <a:srgbClr val="644B35"/>
                </a:solidFill>
                <a:latin typeface="Aptos"/>
              </a:rPr>
              <a:t>2  CHALLENGE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755648" y="3054096"/>
            <a:ext cx="1143000" cy="310896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500" b="1">
                <a:solidFill>
                  <a:srgbClr val="222222"/>
                </a:solidFill>
                <a:latin typeface="Aptos"/>
              </a:rPr>
              <a:t>c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9808" y="4160520"/>
            <a:ext cx="132588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000" b="1">
                <a:solidFill>
                  <a:srgbClr val="644B35"/>
                </a:solidFill>
                <a:latin typeface="Aptos"/>
              </a:rPr>
              <a:t>3  RESPONSE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417320" y="4471416"/>
            <a:ext cx="1828800" cy="0"/>
          </a:xfrm>
          <a:prstGeom prst="line">
            <a:avLst/>
          </a:prstGeom>
          <a:ln w="27940">
            <a:solidFill>
              <a:srgbClr val="9A704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1755648" y="4123944"/>
            <a:ext cx="1143000" cy="310896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500" b="1">
                <a:solidFill>
                  <a:srgbClr val="222222"/>
                </a:solidFill>
                <a:latin typeface="Aptos"/>
              </a:rPr>
              <a:t>z = r + cx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68096" y="5010912"/>
            <a:ext cx="3182112" cy="29260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000" b="0">
                <a:solidFill>
                  <a:srgbClr val="5F5F5F"/>
                </a:solidFill>
                <a:latin typeface="Aptos"/>
              </a:rPr>
              <a:t>r је случајан nonce доказивача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68096" y="5330952"/>
            <a:ext cx="3182112" cy="38404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900" b="0">
                <a:solidFill>
                  <a:srgbClr val="5F5F5F"/>
                </a:solidFill>
                <a:latin typeface="Aptos"/>
              </a:rPr>
              <a:t>R и z иду од доказивача ка провјериоцу; c иде у супротном смјеру.</a:t>
            </a:r>
          </a:p>
        </p:txBody>
      </p:sp>
      <p:sp>
        <p:nvSpPr>
          <p:cNvPr id="43" name="Left Arrow 42"/>
          <p:cNvSpPr/>
          <p:nvPr/>
        </p:nvSpPr>
        <p:spPr>
          <a:xfrm>
            <a:off x="1417320" y="3337560"/>
            <a:ext cx="1828800" cy="128016"/>
          </a:xfrm>
          <a:prstGeom prst="leftArrow">
            <a:avLst/>
          </a:prstGeom>
          <a:solidFill>
            <a:srgbClr val="9A70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>
            <a:solidFill>
              <a:srgbClr val="FAF7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34747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6E2D3A"/>
                </a:solidFill>
                <a:latin typeface="Aptos"/>
              </a:rPr>
              <a:t>FIAT–SHAMIR ТРАНСФОРМАЦИЈА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941832"/>
            <a:ext cx="10789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706662"/>
                </a:solidFill>
                <a:latin typeface="Aptos"/>
              </a:rPr>
              <a:t>Интерактивни challenge замјењује се детерминистички изведеном хеш вриједношћу.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444752"/>
            <a:ext cx="3703320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C6A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1691640"/>
            <a:ext cx="3154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6E2D3A"/>
                </a:solidFill>
                <a:latin typeface="Aptos"/>
              </a:rPr>
              <a:t>ИДЕЈА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19456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706662"/>
                </a:solidFill>
                <a:latin typeface="Aptos"/>
              </a:rPr>
              <a:t>Основни Schnorr: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542032"/>
            <a:ext cx="31546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B57E84"/>
                </a:solidFill>
                <a:latin typeface="Aptos"/>
              </a:rPr>
              <a:t>R  →  verifier  →  c  →  prover  →  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218688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706662"/>
                </a:solidFill>
                <a:latin typeface="Aptos"/>
              </a:rPr>
              <a:t>Fiat–Shamir: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593592"/>
            <a:ext cx="32461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486B5C"/>
                </a:solidFill>
                <a:latin typeface="Aptos"/>
              </a:rPr>
              <a:t>c = H(label, X, R, context)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315968"/>
            <a:ext cx="3154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5222A"/>
                </a:solidFill>
                <a:latin typeface="Aptos"/>
              </a:rPr>
              <a:t>Доказивач и провјерилац независно
изводе исти challenge из истих података.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5230368"/>
            <a:ext cx="3154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6E2D3A"/>
                </a:solidFill>
                <a:latin typeface="Aptos"/>
              </a:rPr>
              <a:t>Нема додатног комуникационог круга.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17720" y="1444752"/>
            <a:ext cx="6903720" cy="4526280"/>
          </a:xfrm>
          <a:prstGeom prst="roundRect">
            <a:avLst/>
          </a:prstGeom>
          <a:solidFill>
            <a:srgbClr val="2A272E"/>
          </a:solidFill>
          <a:ln>
            <a:solidFill>
              <a:srgbClr val="2A27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919472" y="1673352"/>
            <a:ext cx="6263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4DEBE"/>
                </a:solidFill>
                <a:latin typeface="Aptos"/>
              </a:rPr>
              <a:t>ИЗВОД ИЗ ИМПЛЕМЕНТАЦИЈЕ — challenge_scalar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19472" y="2103120"/>
            <a:ext cx="6217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19" b="0">
                <a:solidFill>
                  <a:srgbClr val="F4F4F4"/>
                </a:solidFill>
                <a:latin typeface="Consolas"/>
              </a:rPr>
              <a:t>let mut hasher = Sha512::new();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19472" y="2395727"/>
            <a:ext cx="6217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19" b="0">
                <a:solidFill>
                  <a:srgbClr val="EBC289"/>
                </a:solidFill>
                <a:latin typeface="Consolas"/>
              </a:rPr>
              <a:t>hasher.update(b"zkp-auth-schnorr-fiat-shamir-v1");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19472" y="2688335"/>
            <a:ext cx="6217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19" b="0">
                <a:solidFill>
                  <a:srgbClr val="F4F4F4"/>
                </a:solidFill>
                <a:latin typeface="Consolas"/>
              </a:rPr>
              <a:t>hasher.update(&amp;(self.label.len() as u64).to_le_bytes());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19472" y="2980943"/>
            <a:ext cx="6217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19" b="0">
                <a:solidFill>
                  <a:srgbClr val="F4F4F4"/>
                </a:solidFill>
                <a:latin typeface="Consolas"/>
              </a:rPr>
              <a:t>hasher.update(&amp;self.label);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19472" y="3273551"/>
            <a:ext cx="6217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19" b="0">
                <a:solidFill>
                  <a:srgbClr val="C5DCCD"/>
                </a:solidFill>
                <a:latin typeface="Consolas"/>
              </a:rPr>
              <a:t>hasher.update(public_key.as_bytes());      // X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19472" y="3566159"/>
            <a:ext cx="6217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19" b="0">
                <a:solidFill>
                  <a:srgbClr val="E0B1B7"/>
                </a:solidFill>
                <a:latin typeface="Consolas"/>
              </a:rPr>
              <a:t>hasher.update(commitment.as_bytes());      // 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19472" y="3858767"/>
            <a:ext cx="6217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19" b="0">
                <a:solidFill>
                  <a:srgbClr val="C5DCCD"/>
                </a:solidFill>
                <a:latin typeface="Consolas"/>
              </a:rPr>
              <a:t>for message in &amp;self.messages {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19472" y="4151375"/>
            <a:ext cx="6217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19" b="0">
                <a:solidFill>
                  <a:srgbClr val="C5DCCD"/>
                </a:solidFill>
                <a:latin typeface="Consolas"/>
              </a:rPr>
              <a:t>    hasher.update(message);                // context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919472" y="4443983"/>
            <a:ext cx="6217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19" b="0">
                <a:solidFill>
                  <a:srgbClr val="F4F4F4"/>
                </a:solidFill>
                <a:latin typeface="Consolas"/>
              </a:rPr>
              <a:t>}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919472" y="4736592"/>
            <a:ext cx="6217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19" b="0">
                <a:solidFill>
                  <a:srgbClr val="F4F4F4"/>
                </a:solidFill>
                <a:latin typeface="Consolas"/>
              </a:rPr>
              <a:t>let digest: [u8; 64] = hasher.finalize().into();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919472" y="5029200"/>
            <a:ext cx="6217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19" b="0">
                <a:solidFill>
                  <a:srgbClr val="F4F4F4"/>
                </a:solidFill>
                <a:latin typeface="Consolas"/>
              </a:rPr>
              <a:t>Scalar::from_bytes_mod_order_wide(&amp;digest)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" y="6199632"/>
            <a:ext cx="10881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1">
                <a:solidFill>
                  <a:srgbClr val="6E2D3A"/>
                </a:solidFill>
                <a:latin typeface="Aptos"/>
              </a:rPr>
              <a:t>У SHA-512 улазе: domain separation ознака, label, јавни кључ X, commitment R и поруке transcript-а.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347472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110" dirty="0">
                <a:solidFill>
                  <a:srgbClr val="6E2D3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АРХИТЕКТУРА БИБЛИОТЕКЕ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85800" y="658368"/>
            <a:ext cx="10744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25222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Криптографска логика је одвојена од HTTP аутентификације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822960" y="1828800"/>
            <a:ext cx="4937760" cy="3611880"/>
          </a:xfrm>
          <a:prstGeom prst="roundRect">
            <a:avLst>
              <a:gd name="adj" fmla="val 2025"/>
            </a:avLst>
          </a:prstGeom>
          <a:solidFill>
            <a:srgbClr val="F1E9DE"/>
          </a:solidFill>
          <a:ln w="12700">
            <a:solidFill>
              <a:srgbClr val="E1D9D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987552" y="2011680"/>
            <a:ext cx="45720" cy="3246120"/>
          </a:xfrm>
          <a:prstGeom prst="rect">
            <a:avLst/>
          </a:prstGeom>
          <a:solidFill>
            <a:srgbClr val="6E2D3A"/>
          </a:solidFill>
          <a:ln w="12700">
            <a:solidFill>
              <a:srgbClr val="6E2D3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1170432" y="1993392"/>
            <a:ext cx="4434840" cy="329184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6E2D3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schnorr crate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170432" y="2395728"/>
            <a:ext cx="4407408" cy="289864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marL="0" indent="0" algn="l">
              <a:buNone/>
            </a:pPr>
            <a:r>
              <a:rPr lang="en-US" sz="1150" dirty="0">
                <a:solidFill>
                  <a:srgbClr val="25222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group  - кључеви, скалари и commitment</a:t>
            </a:r>
            <a:endParaRPr lang="en-US" sz="1150" dirty="0"/>
          </a:p>
          <a:p>
            <a:pPr marL="0" indent="0" algn="l">
              <a:buNone/>
            </a:pPr>
            <a:r>
              <a:rPr lang="en-US" sz="1150" dirty="0">
                <a:solidFill>
                  <a:srgbClr val="25222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fiat_shamir  - извођење challenge вриједности</a:t>
            </a:r>
            <a:endParaRPr lang="en-US" sz="1150" dirty="0"/>
          </a:p>
          <a:p>
            <a:pPr marL="0" indent="0" algn="l">
              <a:buNone/>
            </a:pPr>
            <a:r>
              <a:rPr lang="en-US" sz="1150" dirty="0">
                <a:solidFill>
                  <a:srgbClr val="25222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prover  - генерисање Schnorr доказа</a:t>
            </a:r>
            <a:endParaRPr lang="en-US" sz="1150" dirty="0"/>
          </a:p>
          <a:p>
            <a:pPr marL="0" indent="0" algn="l">
              <a:buNone/>
            </a:pPr>
            <a:r>
              <a:rPr lang="en-US" sz="1150" dirty="0">
                <a:solidFill>
                  <a:srgbClr val="25222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verifier  - математичка провјера доказа</a:t>
            </a:r>
            <a:endParaRPr lang="en-US" sz="1150" dirty="0"/>
          </a:p>
          <a:p>
            <a:pPr marL="0" indent="0" algn="l">
              <a:buNone/>
            </a:pPr>
            <a:endParaRPr lang="en-US" sz="1150" dirty="0"/>
          </a:p>
          <a:p>
            <a:pPr marL="0" indent="0" algn="l">
              <a:buNone/>
            </a:pPr>
            <a:r>
              <a:rPr lang="en-US" sz="1150" dirty="0">
                <a:solidFill>
                  <a:srgbClr val="25222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Нема зависност од HTTP комуникације.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446520" y="1828800"/>
            <a:ext cx="4937760" cy="3611880"/>
          </a:xfrm>
          <a:prstGeom prst="roundRect">
            <a:avLst>
              <a:gd name="adj" fmla="val 2025"/>
            </a:avLst>
          </a:prstGeom>
          <a:solidFill>
            <a:srgbClr val="D9E1D4"/>
          </a:solidFill>
          <a:ln w="12700">
            <a:solidFill>
              <a:srgbClr val="E1D9D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6611112" y="2011680"/>
            <a:ext cx="45720" cy="3246120"/>
          </a:xfrm>
          <a:prstGeom prst="rect">
            <a:avLst/>
          </a:prstGeom>
          <a:solidFill>
            <a:srgbClr val="58705B"/>
          </a:solidFill>
          <a:ln w="12700">
            <a:solidFill>
              <a:srgbClr val="58705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6793992" y="1993392"/>
            <a:ext cx="4434840" cy="329184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6E2D3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auth crate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793992" y="2395728"/>
            <a:ext cx="4407408" cy="289864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marL="0" indent="0" algn="l">
              <a:buNone/>
            </a:pPr>
            <a:r>
              <a:rPr lang="en-US" sz="1150" dirty="0">
                <a:solidFill>
                  <a:srgbClr val="25222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context  - контекст HTTP захтјева</a:t>
            </a:r>
            <a:endParaRPr lang="en-US" sz="1150" dirty="0"/>
          </a:p>
          <a:p>
            <a:pPr marL="0" indent="0" algn="l">
              <a:buNone/>
            </a:pPr>
            <a:r>
              <a:rPr lang="en-US" sz="1150" dirty="0">
                <a:solidFill>
                  <a:srgbClr val="25222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proof  - AuthProofBundle и API за креирање/провјеру</a:t>
            </a:r>
            <a:endParaRPr lang="en-US" sz="1150" dirty="0"/>
          </a:p>
          <a:p>
            <a:pPr marL="0" indent="0" algn="l">
              <a:buNone/>
            </a:pPr>
            <a:r>
              <a:rPr lang="en-US" sz="1150" dirty="0">
                <a:solidFill>
                  <a:srgbClr val="25222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replay  - timestamp и nonce заштита</a:t>
            </a:r>
            <a:endParaRPr lang="en-US" sz="1150" dirty="0"/>
          </a:p>
          <a:p>
            <a:pPr marL="0" indent="0" algn="l">
              <a:buNone/>
            </a:pPr>
            <a:r>
              <a:rPr lang="en-US" sz="1150" dirty="0">
                <a:solidFill>
                  <a:srgbClr val="25222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error  - типови грешака</a:t>
            </a:r>
            <a:endParaRPr lang="en-US" sz="1150" dirty="0"/>
          </a:p>
          <a:p>
            <a:pPr marL="0" indent="0" algn="l">
              <a:buNone/>
            </a:pPr>
            <a:endParaRPr lang="en-US" sz="1150" dirty="0"/>
          </a:p>
          <a:p>
            <a:pPr marL="0" indent="0" algn="l">
              <a:buNone/>
            </a:pPr>
            <a:r>
              <a:rPr lang="en-US" sz="1150" dirty="0">
                <a:solidFill>
                  <a:srgbClr val="25222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Користи schnorr crate као криптографску основу.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806440" y="3611880"/>
            <a:ext cx="548640" cy="0"/>
          </a:xfrm>
          <a:prstGeom prst="line">
            <a:avLst/>
          </a:prstGeom>
          <a:noFill/>
          <a:ln w="25400">
            <a:solidFill>
              <a:srgbClr val="C6A06B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19088"/>
            <a:ext cx="32004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766C68"/>
                </a:solidFill>
                <a:latin typeface="Noto Sans"/>
                <a:ea typeface="Noto Sans"/>
                <a:cs typeface="Noto Sans"/>
              </a:defRPr>
            </a:lvl1pPr>
          </a:lstStyle>
          <a:p>
            <a:r>
              <a:t>11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347472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110" dirty="0">
                <a:solidFill>
                  <a:srgbClr val="6E2D3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ИМПЛЕМЕНТАЦИЈА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85800" y="658368"/>
            <a:ext cx="10744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25222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Технолошки и криптографски избори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777240" y="1783080"/>
            <a:ext cx="3337560" cy="1554480"/>
          </a:xfrm>
          <a:prstGeom prst="roundRect">
            <a:avLst>
              <a:gd name="adj" fmla="val 4706"/>
            </a:avLst>
          </a:prstGeom>
          <a:solidFill>
            <a:srgbClr val="F1E9DE"/>
          </a:solidFill>
          <a:ln w="12700">
            <a:solidFill>
              <a:srgbClr val="E1D9D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941832" y="1965960"/>
            <a:ext cx="45720" cy="1188720"/>
          </a:xfrm>
          <a:prstGeom prst="rect">
            <a:avLst/>
          </a:prstGeom>
          <a:solidFill>
            <a:srgbClr val="6E2D3A"/>
          </a:solidFill>
          <a:ln w="12700">
            <a:solidFill>
              <a:srgbClr val="6E2D3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1124712" y="1947672"/>
            <a:ext cx="2834640" cy="329184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6E2D3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Rust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124712" y="2350008"/>
            <a:ext cx="2807208" cy="84124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marL="0" indent="0" algn="l">
              <a:buNone/>
            </a:pPr>
            <a:r>
              <a:rPr lang="en-US" sz="1150" dirty="0">
                <a:solidFill>
                  <a:srgbClr val="25222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меморијска безбједност и погодност за системске библиотеке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480560" y="1783080"/>
            <a:ext cx="3337560" cy="1554480"/>
          </a:xfrm>
          <a:prstGeom prst="roundRect">
            <a:avLst>
              <a:gd name="adj" fmla="val 4706"/>
            </a:avLst>
          </a:prstGeom>
          <a:solidFill>
            <a:srgbClr val="E8D6D5"/>
          </a:solidFill>
          <a:ln w="12700">
            <a:solidFill>
              <a:srgbClr val="E1D9D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4645152" y="1965960"/>
            <a:ext cx="45720" cy="1188720"/>
          </a:xfrm>
          <a:prstGeom prst="rect">
            <a:avLst/>
          </a:prstGeom>
          <a:solidFill>
            <a:srgbClr val="C6A06B"/>
          </a:solidFill>
          <a:ln w="12700">
            <a:solidFill>
              <a:srgbClr val="C6A06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4828032" y="1947672"/>
            <a:ext cx="2834640" cy="329184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6E2D3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Ristretto255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828032" y="2350008"/>
            <a:ext cx="2807208" cy="84124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marL="0" indent="0" algn="l">
              <a:buNone/>
            </a:pPr>
            <a:r>
              <a:rPr lang="en-US" sz="1150" dirty="0">
                <a:solidFill>
                  <a:srgbClr val="25222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група над којом је реализован Schnorr протокол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183880" y="1783080"/>
            <a:ext cx="3337560" cy="1554480"/>
          </a:xfrm>
          <a:prstGeom prst="roundRect">
            <a:avLst>
              <a:gd name="adj" fmla="val 4706"/>
            </a:avLst>
          </a:prstGeom>
          <a:solidFill>
            <a:srgbClr val="F1E9DE"/>
          </a:solidFill>
          <a:ln w="12700">
            <a:solidFill>
              <a:srgbClr val="E1D9D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Shape 11"/>
          <p:cNvSpPr/>
          <p:nvPr/>
        </p:nvSpPr>
        <p:spPr>
          <a:xfrm>
            <a:off x="8348472" y="1965960"/>
            <a:ext cx="45720" cy="1188720"/>
          </a:xfrm>
          <a:prstGeom prst="rect">
            <a:avLst/>
          </a:prstGeom>
          <a:solidFill>
            <a:srgbClr val="6E2D3A"/>
          </a:solidFill>
          <a:ln w="12700">
            <a:solidFill>
              <a:srgbClr val="6E2D3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8531352" y="1947672"/>
            <a:ext cx="2834640" cy="329184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6E2D3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curve25519-dalek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531352" y="2350008"/>
            <a:ext cx="2807208" cy="84124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marL="0" indent="0" algn="l">
              <a:buNone/>
            </a:pPr>
            <a:r>
              <a:rPr lang="en-US" sz="1150" dirty="0">
                <a:solidFill>
                  <a:srgbClr val="25222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операције над скаларима и тачкама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77240" y="3749040"/>
            <a:ext cx="3337560" cy="1554480"/>
          </a:xfrm>
          <a:prstGeom prst="roundRect">
            <a:avLst>
              <a:gd name="adj" fmla="val 4706"/>
            </a:avLst>
          </a:prstGeom>
          <a:solidFill>
            <a:srgbClr val="E8D6D5"/>
          </a:solidFill>
          <a:ln w="12700">
            <a:solidFill>
              <a:srgbClr val="E1D9D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Shape 15"/>
          <p:cNvSpPr/>
          <p:nvPr/>
        </p:nvSpPr>
        <p:spPr>
          <a:xfrm>
            <a:off x="941832" y="3931920"/>
            <a:ext cx="45720" cy="1188720"/>
          </a:xfrm>
          <a:prstGeom prst="rect">
            <a:avLst/>
          </a:prstGeom>
          <a:solidFill>
            <a:srgbClr val="C6A06B"/>
          </a:solidFill>
          <a:ln w="12700">
            <a:solidFill>
              <a:srgbClr val="C6A06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Text 16"/>
          <p:cNvSpPr/>
          <p:nvPr/>
        </p:nvSpPr>
        <p:spPr>
          <a:xfrm>
            <a:off x="1124712" y="3913632"/>
            <a:ext cx="2834640" cy="329184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6E2D3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SHA-512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124712" y="4315968"/>
            <a:ext cx="2807208" cy="84124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marL="0" indent="0" algn="l">
              <a:buNone/>
            </a:pPr>
            <a:r>
              <a:rPr lang="en-US" sz="1150" dirty="0">
                <a:solidFill>
                  <a:srgbClr val="25222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Fiat-Shamir challenge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4480560" y="3749040"/>
            <a:ext cx="3337560" cy="1554480"/>
          </a:xfrm>
          <a:prstGeom prst="roundRect">
            <a:avLst>
              <a:gd name="adj" fmla="val 4706"/>
            </a:avLst>
          </a:prstGeom>
          <a:solidFill>
            <a:srgbClr val="F1E9DE"/>
          </a:solidFill>
          <a:ln w="12700">
            <a:solidFill>
              <a:srgbClr val="E1D9D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Shape 19"/>
          <p:cNvSpPr/>
          <p:nvPr/>
        </p:nvSpPr>
        <p:spPr>
          <a:xfrm>
            <a:off x="4645152" y="3931920"/>
            <a:ext cx="45720" cy="1188720"/>
          </a:xfrm>
          <a:prstGeom prst="rect">
            <a:avLst/>
          </a:prstGeom>
          <a:solidFill>
            <a:srgbClr val="6E2D3A"/>
          </a:solidFill>
          <a:ln w="12700">
            <a:solidFill>
              <a:srgbClr val="6E2D3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Text 20"/>
          <p:cNvSpPr/>
          <p:nvPr/>
        </p:nvSpPr>
        <p:spPr>
          <a:xfrm>
            <a:off x="4828032" y="3913632"/>
            <a:ext cx="2834640" cy="329184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6E2D3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SHA-256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4828032" y="4315968"/>
            <a:ext cx="2807208" cy="84124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marL="0" indent="0" algn="l">
              <a:buNone/>
            </a:pPr>
            <a:r>
              <a:rPr lang="en-US" sz="1150" dirty="0">
                <a:solidFill>
                  <a:srgbClr val="25222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хеширање тијела HTTP захтјева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19088"/>
            <a:ext cx="32004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766C68"/>
                </a:solidFill>
                <a:latin typeface="Noto Sans"/>
                <a:ea typeface="Noto Sans"/>
                <a:cs typeface="Noto Sans"/>
              </a:defRPr>
            </a:lvl1pPr>
          </a:lstStyle>
          <a:p>
            <a:r>
              <a:t>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347472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110" dirty="0">
                <a:solidFill>
                  <a:srgbClr val="6E2D3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КОНТЕКСТ ЗАХТЈЕВА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85800" y="658368"/>
            <a:ext cx="10744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25222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Доказ важи само за један тачно одређен HTTP захтјев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777240" y="1783080"/>
            <a:ext cx="3337560" cy="1417320"/>
          </a:xfrm>
          <a:prstGeom prst="roundRect">
            <a:avLst>
              <a:gd name="adj" fmla="val 5161"/>
            </a:avLst>
          </a:prstGeom>
          <a:solidFill>
            <a:srgbClr val="F1E9DE"/>
          </a:solidFill>
          <a:ln w="12700">
            <a:solidFill>
              <a:srgbClr val="E1D9D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941832" y="1965960"/>
            <a:ext cx="45720" cy="1051560"/>
          </a:xfrm>
          <a:prstGeom prst="rect">
            <a:avLst/>
          </a:prstGeom>
          <a:solidFill>
            <a:srgbClr val="6E2D3A"/>
          </a:solidFill>
          <a:ln w="12700">
            <a:solidFill>
              <a:srgbClr val="6E2D3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1124712" y="1947672"/>
            <a:ext cx="2834640" cy="329184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6E2D3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service_id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124712" y="2350008"/>
            <a:ext cx="2807208" cy="70408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marL="0" indent="0" algn="l">
              <a:buNone/>
            </a:pPr>
            <a:r>
              <a:rPr lang="en-US" sz="1150" dirty="0">
                <a:solidFill>
                  <a:srgbClr val="25222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идентитет пошиљаоца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480560" y="1783080"/>
            <a:ext cx="3337560" cy="1417320"/>
          </a:xfrm>
          <a:prstGeom prst="roundRect">
            <a:avLst>
              <a:gd name="adj" fmla="val 5161"/>
            </a:avLst>
          </a:prstGeom>
          <a:solidFill>
            <a:srgbClr val="F1E9DE"/>
          </a:solidFill>
          <a:ln w="12700">
            <a:solidFill>
              <a:srgbClr val="E1D9D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4645152" y="1965960"/>
            <a:ext cx="45720" cy="1051560"/>
          </a:xfrm>
          <a:prstGeom prst="rect">
            <a:avLst/>
          </a:prstGeom>
          <a:solidFill>
            <a:srgbClr val="6E2D3A"/>
          </a:solidFill>
          <a:ln w="12700">
            <a:solidFill>
              <a:srgbClr val="6E2D3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4828032" y="1947672"/>
            <a:ext cx="2834640" cy="329184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6E2D3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audience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828032" y="2350008"/>
            <a:ext cx="2807208" cy="70408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marL="0" indent="0" algn="l">
              <a:buNone/>
            </a:pPr>
            <a:r>
              <a:rPr lang="en-US" sz="1150" dirty="0">
                <a:solidFill>
                  <a:srgbClr val="25222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одредишни сервис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183880" y="1783080"/>
            <a:ext cx="3337560" cy="1417320"/>
          </a:xfrm>
          <a:prstGeom prst="roundRect">
            <a:avLst>
              <a:gd name="adj" fmla="val 5161"/>
            </a:avLst>
          </a:prstGeom>
          <a:solidFill>
            <a:srgbClr val="F1E9DE"/>
          </a:solidFill>
          <a:ln w="12700">
            <a:solidFill>
              <a:srgbClr val="E1D9D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Shape 11"/>
          <p:cNvSpPr/>
          <p:nvPr/>
        </p:nvSpPr>
        <p:spPr>
          <a:xfrm>
            <a:off x="8348472" y="1965960"/>
            <a:ext cx="45720" cy="1051560"/>
          </a:xfrm>
          <a:prstGeom prst="rect">
            <a:avLst/>
          </a:prstGeom>
          <a:solidFill>
            <a:srgbClr val="6E2D3A"/>
          </a:solidFill>
          <a:ln w="12700">
            <a:solidFill>
              <a:srgbClr val="6E2D3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8531352" y="1947672"/>
            <a:ext cx="2834640" cy="329184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6E2D3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method + path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531352" y="2350008"/>
            <a:ext cx="2807208" cy="70408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marL="0" indent="0" algn="l">
              <a:buNone/>
            </a:pPr>
            <a:r>
              <a:rPr lang="en-US" sz="1150" dirty="0">
                <a:solidFill>
                  <a:srgbClr val="25222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операција и путања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77240" y="3657600"/>
            <a:ext cx="3337560" cy="1417320"/>
          </a:xfrm>
          <a:prstGeom prst="roundRect">
            <a:avLst>
              <a:gd name="adj" fmla="val 5161"/>
            </a:avLst>
          </a:prstGeom>
          <a:solidFill>
            <a:srgbClr val="D9E1D4"/>
          </a:solidFill>
          <a:ln w="12700">
            <a:solidFill>
              <a:srgbClr val="E1D9D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Shape 15"/>
          <p:cNvSpPr/>
          <p:nvPr/>
        </p:nvSpPr>
        <p:spPr>
          <a:xfrm>
            <a:off x="941832" y="3840480"/>
            <a:ext cx="45720" cy="1051560"/>
          </a:xfrm>
          <a:prstGeom prst="rect">
            <a:avLst/>
          </a:prstGeom>
          <a:solidFill>
            <a:srgbClr val="58705B"/>
          </a:solidFill>
          <a:ln w="12700">
            <a:solidFill>
              <a:srgbClr val="58705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Text 16"/>
          <p:cNvSpPr/>
          <p:nvPr/>
        </p:nvSpPr>
        <p:spPr>
          <a:xfrm>
            <a:off x="1124712" y="3822192"/>
            <a:ext cx="2834640" cy="329184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6E2D3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body_sha256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124712" y="4224528"/>
            <a:ext cx="2807208" cy="70408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marL="0" indent="0" algn="l">
              <a:buNone/>
            </a:pPr>
            <a:r>
              <a:rPr lang="en-US" sz="1150" dirty="0">
                <a:solidFill>
                  <a:srgbClr val="25222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садржај тијела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4480560" y="3657600"/>
            <a:ext cx="3337560" cy="1417320"/>
          </a:xfrm>
          <a:prstGeom prst="roundRect">
            <a:avLst>
              <a:gd name="adj" fmla="val 5161"/>
            </a:avLst>
          </a:prstGeom>
          <a:solidFill>
            <a:srgbClr val="D9E1D4"/>
          </a:solidFill>
          <a:ln w="12700">
            <a:solidFill>
              <a:srgbClr val="E1D9D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Shape 19"/>
          <p:cNvSpPr/>
          <p:nvPr/>
        </p:nvSpPr>
        <p:spPr>
          <a:xfrm>
            <a:off x="4645152" y="3840480"/>
            <a:ext cx="45720" cy="1051560"/>
          </a:xfrm>
          <a:prstGeom prst="rect">
            <a:avLst/>
          </a:prstGeom>
          <a:solidFill>
            <a:srgbClr val="58705B"/>
          </a:solidFill>
          <a:ln w="12700">
            <a:solidFill>
              <a:srgbClr val="58705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Text 20"/>
          <p:cNvSpPr/>
          <p:nvPr/>
        </p:nvSpPr>
        <p:spPr>
          <a:xfrm>
            <a:off x="4828032" y="3822192"/>
            <a:ext cx="2834640" cy="329184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6E2D3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nonce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4828032" y="4224528"/>
            <a:ext cx="2807208" cy="70408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marL="0" indent="0" algn="l">
              <a:buNone/>
            </a:pPr>
            <a:r>
              <a:rPr lang="en-US" sz="1150" dirty="0">
                <a:solidFill>
                  <a:srgbClr val="25222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једнократна вриједност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8183880" y="3657600"/>
            <a:ext cx="3337560" cy="1417320"/>
          </a:xfrm>
          <a:prstGeom prst="roundRect">
            <a:avLst>
              <a:gd name="adj" fmla="val 5161"/>
            </a:avLst>
          </a:prstGeom>
          <a:solidFill>
            <a:srgbClr val="D9E1D4"/>
          </a:solidFill>
          <a:ln w="12700">
            <a:solidFill>
              <a:srgbClr val="E1D9D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Shape 23"/>
          <p:cNvSpPr/>
          <p:nvPr/>
        </p:nvSpPr>
        <p:spPr>
          <a:xfrm>
            <a:off x="8348472" y="3840480"/>
            <a:ext cx="45720" cy="1051560"/>
          </a:xfrm>
          <a:prstGeom prst="rect">
            <a:avLst/>
          </a:prstGeom>
          <a:solidFill>
            <a:srgbClr val="58705B"/>
          </a:solidFill>
          <a:ln w="12700">
            <a:solidFill>
              <a:srgbClr val="58705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24"/>
          <p:cNvSpPr/>
          <p:nvPr/>
        </p:nvSpPr>
        <p:spPr>
          <a:xfrm>
            <a:off x="8531352" y="3822192"/>
            <a:ext cx="2834640" cy="329184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6E2D3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timestamp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8531352" y="4224528"/>
            <a:ext cx="2807208" cy="70408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marL="0" indent="0" algn="l">
              <a:buNone/>
            </a:pPr>
            <a:r>
              <a:rPr lang="en-US" sz="1150" dirty="0">
                <a:solidFill>
                  <a:srgbClr val="25222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вријеме формирања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960120" y="5440680"/>
            <a:ext cx="1019556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6E2D3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Промјена методе, путање, тијела или одредишта → другачији challenge → доказ више није исправан.</a:t>
            </a:r>
            <a:endParaRPr lang="en-US" sz="1400" dirty="0"/>
          </a:p>
        </p:txBody>
      </p:sp>
      <p:sp>
        <p:nvSpPr>
          <p:cNvPr id="2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19088"/>
            <a:ext cx="32004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766C68"/>
                </a:solidFill>
                <a:latin typeface="Noto Sans"/>
                <a:ea typeface="Noto Sans"/>
                <a:cs typeface="Noto Sans"/>
              </a:defRPr>
            </a:lvl1pPr>
          </a:lstStyle>
          <a:p>
            <a:r>
              <a:t>13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347472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110" dirty="0">
                <a:solidFill>
                  <a:srgbClr val="6E2D3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REPLAY ЗАШТИТА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85800" y="658368"/>
            <a:ext cx="10744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25222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Криптографски исправан доказ не смије бити неограничено поновљив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868680" y="1965960"/>
            <a:ext cx="4754880" cy="3337560"/>
          </a:xfrm>
          <a:prstGeom prst="roundRect">
            <a:avLst>
              <a:gd name="adj" fmla="val 2192"/>
            </a:avLst>
          </a:prstGeom>
          <a:solidFill>
            <a:srgbClr val="F1E9DE"/>
          </a:solidFill>
          <a:ln w="12700">
            <a:solidFill>
              <a:srgbClr val="E1D9D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1033272" y="2148840"/>
            <a:ext cx="45720" cy="2971800"/>
          </a:xfrm>
          <a:prstGeom prst="rect">
            <a:avLst/>
          </a:prstGeom>
          <a:solidFill>
            <a:srgbClr val="6E2D3A"/>
          </a:solidFill>
          <a:ln w="12700">
            <a:solidFill>
              <a:srgbClr val="6E2D3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1216152" y="2130552"/>
            <a:ext cx="4251960" cy="329184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6E2D3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Timestamp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216152" y="2532888"/>
            <a:ext cx="4224528" cy="262432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marL="0" indent="0" algn="l">
              <a:buNone/>
            </a:pPr>
            <a:r>
              <a:rPr lang="en-US" sz="1150" dirty="0">
                <a:solidFill>
                  <a:srgbClr val="25222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Ограничава период у којем се доказ сматра важећим.</a:t>
            </a:r>
            <a:endParaRPr lang="en-US" sz="1150" dirty="0"/>
          </a:p>
          <a:p>
            <a:pPr marL="0" indent="0" algn="l">
              <a:buNone/>
            </a:pPr>
            <a:endParaRPr lang="en-US" sz="1150" dirty="0"/>
          </a:p>
          <a:p>
            <a:pPr marL="0" indent="0" algn="l">
              <a:buNone/>
            </a:pPr>
            <a:r>
              <a:rPr lang="en-US" sz="1150" dirty="0">
                <a:solidFill>
                  <a:srgbClr val="25222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При провјери се пореди вријеме из контекста са тренутним временом. Временски неприхватљив доказ се одбија.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583680" y="1965960"/>
            <a:ext cx="4754880" cy="3337560"/>
          </a:xfrm>
          <a:prstGeom prst="roundRect">
            <a:avLst>
              <a:gd name="adj" fmla="val 2192"/>
            </a:avLst>
          </a:prstGeom>
          <a:solidFill>
            <a:srgbClr val="D9E1D4"/>
          </a:solidFill>
          <a:ln w="12700">
            <a:solidFill>
              <a:srgbClr val="E1D9D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6748272" y="2148840"/>
            <a:ext cx="45720" cy="2971800"/>
          </a:xfrm>
          <a:prstGeom prst="rect">
            <a:avLst/>
          </a:prstGeom>
          <a:solidFill>
            <a:srgbClr val="58705B"/>
          </a:solidFill>
          <a:ln w="12700">
            <a:solidFill>
              <a:srgbClr val="58705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6931152" y="2130552"/>
            <a:ext cx="4251960" cy="329184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6E2D3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Nonce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931152" y="2532888"/>
            <a:ext cx="4224528" cy="262432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marL="0" indent="0" algn="l">
              <a:buNone/>
            </a:pPr>
            <a:r>
              <a:rPr lang="en-US" sz="1150" dirty="0">
                <a:solidFill>
                  <a:srgbClr val="25222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Јединствена вриједност за сваки нови захтјев.</a:t>
            </a:r>
            <a:endParaRPr lang="en-US" sz="1150" dirty="0"/>
          </a:p>
          <a:p>
            <a:pPr marL="0" indent="0" algn="l">
              <a:buNone/>
            </a:pPr>
            <a:endParaRPr lang="en-US" sz="1150" dirty="0"/>
          </a:p>
          <a:p>
            <a:pPr marL="0" indent="0" algn="l">
              <a:buNone/>
            </a:pPr>
            <a:r>
              <a:rPr lang="en-US" sz="1150" dirty="0">
                <a:solidFill>
                  <a:srgbClr val="25222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ReplayProtector памти искоришћене nonce вриједности. Други захтјев са истим nonce-ом се одбија.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188720" y="5623560"/>
            <a:ext cx="9784080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6E2D3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Посебно важно за операције као што су резервација производа и плаћање.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19088"/>
            <a:ext cx="32004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766C68"/>
                </a:solidFill>
                <a:latin typeface="Noto Sans"/>
                <a:ea typeface="Noto Sans"/>
                <a:cs typeface="Noto Sans"/>
              </a:defRPr>
            </a:lvl1pPr>
          </a:lstStyle>
          <a:p>
            <a:r>
              <a:t>14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347472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110" dirty="0">
                <a:solidFill>
                  <a:srgbClr val="6E2D3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ПРАКТИЧНА ПРИМЈЕНА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85800" y="658368"/>
            <a:ext cx="10744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25222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Демонстрациона микросервисна апликација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2331720"/>
            <a:ext cx="205740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E1D9D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804672" y="2514600"/>
            <a:ext cx="45720" cy="1051560"/>
          </a:xfrm>
          <a:prstGeom prst="rect">
            <a:avLst/>
          </a:prstGeom>
          <a:solidFill>
            <a:srgbClr val="C6A06B"/>
          </a:solidFill>
          <a:ln w="12700">
            <a:solidFill>
              <a:srgbClr val="C6A06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987552" y="2496312"/>
            <a:ext cx="1554480" cy="329184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6E2D3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Клијент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87552" y="2898648"/>
            <a:ext cx="1527048" cy="70408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marL="0" indent="0" algn="l">
              <a:buNone/>
            </a:pPr>
            <a:r>
              <a:rPr lang="en-US" sz="1150" dirty="0">
                <a:solidFill>
                  <a:srgbClr val="25222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POST /orders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246120" y="2057400"/>
            <a:ext cx="2331720" cy="1965960"/>
          </a:xfrm>
          <a:prstGeom prst="roundRect">
            <a:avLst>
              <a:gd name="adj" fmla="val 3721"/>
            </a:avLst>
          </a:prstGeom>
          <a:solidFill>
            <a:srgbClr val="F1E9DE"/>
          </a:solidFill>
          <a:ln w="12700">
            <a:solidFill>
              <a:srgbClr val="E1D9D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3410712" y="2240280"/>
            <a:ext cx="45720" cy="1600200"/>
          </a:xfrm>
          <a:prstGeom prst="rect">
            <a:avLst/>
          </a:prstGeom>
          <a:solidFill>
            <a:srgbClr val="6E2D3A"/>
          </a:solidFill>
          <a:ln w="12700">
            <a:solidFill>
              <a:srgbClr val="6E2D3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3593592" y="2221992"/>
            <a:ext cx="1828800" cy="329184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6E2D3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OrderService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3593592" y="2624328"/>
            <a:ext cx="1801368" cy="125272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marL="0" indent="0" algn="l">
              <a:buNone/>
            </a:pPr>
            <a:r>
              <a:rPr lang="en-US" sz="1150" dirty="0">
                <a:solidFill>
                  <a:srgbClr val="25222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Оркестрира процес наручивања и формира ZKP доказе.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446520" y="1417320"/>
            <a:ext cx="2514600" cy="1691640"/>
          </a:xfrm>
          <a:prstGeom prst="roundRect">
            <a:avLst>
              <a:gd name="adj" fmla="val 4324"/>
            </a:avLst>
          </a:prstGeom>
          <a:solidFill>
            <a:srgbClr val="D9E1D4"/>
          </a:solidFill>
          <a:ln w="12700">
            <a:solidFill>
              <a:srgbClr val="E1D9D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Shape 11"/>
          <p:cNvSpPr/>
          <p:nvPr/>
        </p:nvSpPr>
        <p:spPr>
          <a:xfrm>
            <a:off x="6611112" y="1600200"/>
            <a:ext cx="45720" cy="1325880"/>
          </a:xfrm>
          <a:prstGeom prst="rect">
            <a:avLst/>
          </a:prstGeom>
          <a:solidFill>
            <a:srgbClr val="58705B"/>
          </a:solidFill>
          <a:ln w="12700">
            <a:solidFill>
              <a:srgbClr val="58705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6793992" y="1581912"/>
            <a:ext cx="2011680" cy="329184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6E2D3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WarehouseService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793992" y="1984248"/>
            <a:ext cx="1984248" cy="97840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marL="0" indent="0" algn="l">
              <a:buNone/>
            </a:pPr>
            <a:r>
              <a:rPr lang="en-US" sz="1150" dirty="0">
                <a:solidFill>
                  <a:srgbClr val="25222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Резервација залиха</a:t>
            </a:r>
            <a:endParaRPr lang="en-US" sz="1150" dirty="0"/>
          </a:p>
          <a:p>
            <a:pPr marL="0" indent="0" algn="l">
              <a:buNone/>
            </a:pPr>
            <a:r>
              <a:rPr lang="en-US" sz="1150" dirty="0">
                <a:solidFill>
                  <a:srgbClr val="25222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POST /reservations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446520" y="3794760"/>
            <a:ext cx="2514600" cy="1691640"/>
          </a:xfrm>
          <a:prstGeom prst="roundRect">
            <a:avLst>
              <a:gd name="adj" fmla="val 4324"/>
            </a:avLst>
          </a:prstGeom>
          <a:solidFill>
            <a:srgbClr val="E8D6D5"/>
          </a:solidFill>
          <a:ln w="12700">
            <a:solidFill>
              <a:srgbClr val="E1D9D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Shape 15"/>
          <p:cNvSpPr/>
          <p:nvPr/>
        </p:nvSpPr>
        <p:spPr>
          <a:xfrm>
            <a:off x="6611112" y="3977640"/>
            <a:ext cx="45720" cy="1325880"/>
          </a:xfrm>
          <a:prstGeom prst="rect">
            <a:avLst/>
          </a:prstGeom>
          <a:solidFill>
            <a:srgbClr val="C6A06B"/>
          </a:solidFill>
          <a:ln w="12700">
            <a:solidFill>
              <a:srgbClr val="C6A06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Text 16"/>
          <p:cNvSpPr/>
          <p:nvPr/>
        </p:nvSpPr>
        <p:spPr>
          <a:xfrm>
            <a:off x="6793992" y="3959352"/>
            <a:ext cx="2011680" cy="329184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6E2D3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PaymentService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793992" y="4361688"/>
            <a:ext cx="1984248" cy="97840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marL="0" indent="0" algn="l">
              <a:buNone/>
            </a:pPr>
            <a:r>
              <a:rPr lang="en-US" sz="1150" dirty="0">
                <a:solidFill>
                  <a:srgbClr val="25222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Обрада плаћања</a:t>
            </a:r>
            <a:endParaRPr lang="en-US" sz="1150" dirty="0"/>
          </a:p>
          <a:p>
            <a:pPr marL="0" indent="0" algn="l">
              <a:buNone/>
            </a:pPr>
            <a:r>
              <a:rPr lang="en-US" sz="1150" dirty="0">
                <a:solidFill>
                  <a:srgbClr val="25222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POST /payments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2697480" y="3017520"/>
            <a:ext cx="457200" cy="0"/>
          </a:xfrm>
          <a:prstGeom prst="line">
            <a:avLst/>
          </a:prstGeom>
          <a:noFill/>
          <a:ln w="25400">
            <a:solidFill>
              <a:srgbClr val="C6A06B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21" name="Shape 19"/>
          <p:cNvSpPr/>
          <p:nvPr/>
        </p:nvSpPr>
        <p:spPr>
          <a:xfrm>
            <a:off x="5623560" y="2514600"/>
            <a:ext cx="731520" cy="0"/>
          </a:xfrm>
          <a:prstGeom prst="line">
            <a:avLst/>
          </a:prstGeom>
          <a:noFill/>
          <a:ln w="25400">
            <a:solidFill>
              <a:srgbClr val="6E2D3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22" name="Shape 20"/>
          <p:cNvSpPr/>
          <p:nvPr/>
        </p:nvSpPr>
        <p:spPr>
          <a:xfrm>
            <a:off x="5623560" y="3520440"/>
            <a:ext cx="731520" cy="960120"/>
          </a:xfrm>
          <a:prstGeom prst="line">
            <a:avLst/>
          </a:prstGeom>
          <a:noFill/>
          <a:ln w="25400">
            <a:solidFill>
              <a:srgbClr val="6E2D3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23" name="Shape 21"/>
          <p:cNvSpPr/>
          <p:nvPr/>
        </p:nvSpPr>
        <p:spPr>
          <a:xfrm>
            <a:off x="9372600" y="2423160"/>
            <a:ext cx="1828800" cy="384048"/>
          </a:xfrm>
          <a:prstGeom prst="roundRect">
            <a:avLst/>
          </a:prstGeom>
          <a:solidFill>
            <a:srgbClr val="6E2D3A"/>
          </a:solidFill>
          <a:ln w="12700">
            <a:solidFill>
              <a:srgbClr val="6E2D3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22"/>
          <p:cNvSpPr/>
          <p:nvPr/>
        </p:nvSpPr>
        <p:spPr>
          <a:xfrm>
            <a:off x="9372600" y="242316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x-zkp-auth-proof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9098280" y="3063240"/>
            <a:ext cx="2331720" cy="10972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1150" dirty="0">
                <a:solidFill>
                  <a:srgbClr val="25222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Сваки интерни захтјев носи посебан доказ. Приватни кључ остаје у OrderService-у.</a:t>
            </a:r>
            <a:endParaRPr lang="en-US" sz="1150" dirty="0"/>
          </a:p>
        </p:txBody>
      </p:sp>
      <p:sp>
        <p:nvSpPr>
          <p:cNvPr id="2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19088"/>
            <a:ext cx="32004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766C68"/>
                </a:solidFill>
                <a:latin typeface="Noto Sans"/>
                <a:ea typeface="Noto Sans"/>
                <a:cs typeface="Noto Sans"/>
              </a:defRPr>
            </a:lvl1pPr>
          </a:lstStyle>
          <a:p>
            <a:r>
              <a:t>15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347472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110" dirty="0">
                <a:solidFill>
                  <a:srgbClr val="6E2D3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ТОК АУТЕНТИФИКАЦИЈЕ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85800" y="658368"/>
            <a:ext cx="10744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25222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Захтјев се обрађује тек након успјешне провјере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1097280" y="2011680"/>
            <a:ext cx="685800" cy="685800"/>
          </a:xfrm>
          <a:prstGeom prst="ellipse">
            <a:avLst/>
          </a:prstGeom>
          <a:solidFill>
            <a:srgbClr val="6E2D3A"/>
          </a:solidFill>
          <a:ln w="12700">
            <a:solidFill>
              <a:srgbClr val="6E2D3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1097280" y="201168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94360" y="2880360"/>
            <a:ext cx="1691640" cy="9144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25222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Формирање контекста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1828800" y="2359152"/>
            <a:ext cx="640080" cy="0"/>
          </a:xfrm>
          <a:prstGeom prst="line">
            <a:avLst/>
          </a:prstGeom>
          <a:noFill/>
          <a:ln w="25400">
            <a:solidFill>
              <a:srgbClr val="C6A06B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8" name="Shape 6"/>
          <p:cNvSpPr/>
          <p:nvPr/>
        </p:nvSpPr>
        <p:spPr>
          <a:xfrm>
            <a:off x="2971800" y="2011680"/>
            <a:ext cx="685800" cy="685800"/>
          </a:xfrm>
          <a:prstGeom prst="ellipse">
            <a:avLst/>
          </a:prstGeom>
          <a:solidFill>
            <a:srgbClr val="6E2D3A"/>
          </a:solidFill>
          <a:ln w="12700">
            <a:solidFill>
              <a:srgbClr val="6E2D3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2971800" y="201168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2468880" y="2880360"/>
            <a:ext cx="1691640" cy="9144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25222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Генерисање Schnorr доказа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703320" y="2359152"/>
            <a:ext cx="640080" cy="0"/>
          </a:xfrm>
          <a:prstGeom prst="line">
            <a:avLst/>
          </a:prstGeom>
          <a:noFill/>
          <a:ln w="25400">
            <a:solidFill>
              <a:srgbClr val="C6A06B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2" name="Shape 10"/>
          <p:cNvSpPr/>
          <p:nvPr/>
        </p:nvSpPr>
        <p:spPr>
          <a:xfrm>
            <a:off x="4846320" y="2011680"/>
            <a:ext cx="685800" cy="685800"/>
          </a:xfrm>
          <a:prstGeom prst="ellipse">
            <a:avLst/>
          </a:prstGeom>
          <a:solidFill>
            <a:srgbClr val="6E2D3A"/>
          </a:solidFill>
          <a:ln w="12700">
            <a:solidFill>
              <a:srgbClr val="6E2D3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11"/>
          <p:cNvSpPr/>
          <p:nvPr/>
        </p:nvSpPr>
        <p:spPr>
          <a:xfrm>
            <a:off x="4846320" y="201168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343400" y="2880360"/>
            <a:ext cx="1691640" cy="9144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25222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Слање у HTTP заглављу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577840" y="2359152"/>
            <a:ext cx="640080" cy="0"/>
          </a:xfrm>
          <a:prstGeom prst="line">
            <a:avLst/>
          </a:prstGeom>
          <a:noFill/>
          <a:ln w="25400">
            <a:solidFill>
              <a:srgbClr val="C6A06B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6" name="Shape 14"/>
          <p:cNvSpPr/>
          <p:nvPr/>
        </p:nvSpPr>
        <p:spPr>
          <a:xfrm>
            <a:off x="6720840" y="2011680"/>
            <a:ext cx="685800" cy="685800"/>
          </a:xfrm>
          <a:prstGeom prst="ellipse">
            <a:avLst/>
          </a:prstGeom>
          <a:solidFill>
            <a:srgbClr val="58705B"/>
          </a:solidFill>
          <a:ln w="12700">
            <a:solidFill>
              <a:srgbClr val="58705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6720840" y="201168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217920" y="2880360"/>
            <a:ext cx="1691640" cy="9144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25222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Провјера контекста + replay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452360" y="2359152"/>
            <a:ext cx="640080" cy="0"/>
          </a:xfrm>
          <a:prstGeom prst="line">
            <a:avLst/>
          </a:prstGeom>
          <a:noFill/>
          <a:ln w="25400">
            <a:solidFill>
              <a:srgbClr val="C6A06B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20" name="Shape 18"/>
          <p:cNvSpPr/>
          <p:nvPr/>
        </p:nvSpPr>
        <p:spPr>
          <a:xfrm>
            <a:off x="8595360" y="2011680"/>
            <a:ext cx="685800" cy="685800"/>
          </a:xfrm>
          <a:prstGeom prst="ellipse">
            <a:avLst/>
          </a:prstGeom>
          <a:solidFill>
            <a:srgbClr val="58705B"/>
          </a:solidFill>
          <a:ln w="12700">
            <a:solidFill>
              <a:srgbClr val="58705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Text 19"/>
          <p:cNvSpPr/>
          <p:nvPr/>
        </p:nvSpPr>
        <p:spPr>
          <a:xfrm>
            <a:off x="8595360" y="201168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5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8092440" y="2880360"/>
            <a:ext cx="1691640" cy="9144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25222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Schnorr провјера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9326880" y="2359152"/>
            <a:ext cx="640080" cy="0"/>
          </a:xfrm>
          <a:prstGeom prst="line">
            <a:avLst/>
          </a:prstGeom>
          <a:noFill/>
          <a:ln w="25400">
            <a:solidFill>
              <a:srgbClr val="C6A06B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24" name="Shape 22"/>
          <p:cNvSpPr/>
          <p:nvPr/>
        </p:nvSpPr>
        <p:spPr>
          <a:xfrm>
            <a:off x="10469880" y="2011680"/>
            <a:ext cx="685800" cy="685800"/>
          </a:xfrm>
          <a:prstGeom prst="ellipse">
            <a:avLst/>
          </a:prstGeom>
          <a:solidFill>
            <a:srgbClr val="58705B"/>
          </a:solidFill>
          <a:ln w="12700">
            <a:solidFill>
              <a:srgbClr val="58705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Text 23"/>
          <p:cNvSpPr/>
          <p:nvPr/>
        </p:nvSpPr>
        <p:spPr>
          <a:xfrm>
            <a:off x="10469880" y="201168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6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9966960" y="2880360"/>
            <a:ext cx="1691640" cy="9144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25222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Пословна логика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1097280" y="4754880"/>
            <a:ext cx="9966960" cy="731520"/>
          </a:xfrm>
          <a:prstGeom prst="roundRect">
            <a:avLst/>
          </a:prstGeom>
          <a:solidFill>
            <a:srgbClr val="E8D6D5"/>
          </a:solidFill>
          <a:ln w="12700">
            <a:solidFill>
              <a:srgbClr val="E8D6D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Text 26"/>
          <p:cNvSpPr/>
          <p:nvPr/>
        </p:nvSpPr>
        <p:spPr>
          <a:xfrm>
            <a:off x="1280160" y="4919472"/>
            <a:ext cx="9601200" cy="38404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6E2D3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Неисправан контекст, истекао доказ или већ искоришћен nonce → захтјев се одбија.</a:t>
            </a:r>
            <a:endParaRPr lang="en-US" sz="1400" dirty="0"/>
          </a:p>
        </p:txBody>
      </p:sp>
      <p:sp>
        <p:nvSpPr>
          <p:cNvPr id="2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19088"/>
            <a:ext cx="32004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766C68"/>
                </a:solidFill>
                <a:latin typeface="Noto Sans"/>
                <a:ea typeface="Noto Sans"/>
                <a:cs typeface="Noto Sans"/>
              </a:defRPr>
            </a:lvl1pPr>
          </a:lstStyle>
          <a:p>
            <a:r>
              <a:t>16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347472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110" dirty="0">
                <a:solidFill>
                  <a:srgbClr val="6E2D3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ТЕСТИРАЊЕ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85800" y="658368"/>
            <a:ext cx="10744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25222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Функционални тестови провјеравају и позитивне и негативне сценарије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777240" y="1828800"/>
            <a:ext cx="5074920" cy="1417320"/>
          </a:xfrm>
          <a:prstGeom prst="roundRect">
            <a:avLst>
              <a:gd name="adj" fmla="val 5161"/>
            </a:avLst>
          </a:prstGeom>
          <a:solidFill>
            <a:srgbClr val="D9E1D4"/>
          </a:solidFill>
          <a:ln w="12700">
            <a:solidFill>
              <a:srgbClr val="E1D9D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941832" y="2011680"/>
            <a:ext cx="45720" cy="1051560"/>
          </a:xfrm>
          <a:prstGeom prst="rect">
            <a:avLst/>
          </a:prstGeom>
          <a:solidFill>
            <a:srgbClr val="58705B"/>
          </a:solidFill>
          <a:ln w="12700">
            <a:solidFill>
              <a:srgbClr val="58705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1124712" y="1993392"/>
            <a:ext cx="4572000" cy="329184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6E2D3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✓  Исправан доказ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124712" y="2395728"/>
            <a:ext cx="4544568" cy="70408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marL="0" indent="0" algn="l">
              <a:buNone/>
            </a:pPr>
            <a:r>
              <a:rPr lang="en-US" sz="1150" dirty="0">
                <a:solidFill>
                  <a:srgbClr val="25222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захтјев се прихвата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309360" y="1828800"/>
            <a:ext cx="5074920" cy="1417320"/>
          </a:xfrm>
          <a:prstGeom prst="roundRect">
            <a:avLst>
              <a:gd name="adj" fmla="val 5161"/>
            </a:avLst>
          </a:prstGeom>
          <a:solidFill>
            <a:srgbClr val="E8D6D5"/>
          </a:solidFill>
          <a:ln w="12700">
            <a:solidFill>
              <a:srgbClr val="E1D9D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6473952" y="2011680"/>
            <a:ext cx="45720" cy="1051560"/>
          </a:xfrm>
          <a:prstGeom prst="rect">
            <a:avLst/>
          </a:prstGeom>
          <a:solidFill>
            <a:srgbClr val="6E2D3A"/>
          </a:solidFill>
          <a:ln w="12700">
            <a:solidFill>
              <a:srgbClr val="6E2D3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6656832" y="1993392"/>
            <a:ext cx="4572000" cy="329184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6E2D3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✕  Измијењен контекст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656832" y="2395728"/>
            <a:ext cx="4544568" cy="70408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marL="0" indent="0" algn="l">
              <a:buNone/>
            </a:pPr>
            <a:r>
              <a:rPr lang="en-US" sz="1150" dirty="0">
                <a:solidFill>
                  <a:srgbClr val="25222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метода, путања или тијело не одговарају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777240" y="3657600"/>
            <a:ext cx="5074920" cy="1417320"/>
          </a:xfrm>
          <a:prstGeom prst="roundRect">
            <a:avLst>
              <a:gd name="adj" fmla="val 5161"/>
            </a:avLst>
          </a:prstGeom>
          <a:solidFill>
            <a:srgbClr val="E8D6D5"/>
          </a:solidFill>
          <a:ln w="12700">
            <a:solidFill>
              <a:srgbClr val="E1D9D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Shape 11"/>
          <p:cNvSpPr/>
          <p:nvPr/>
        </p:nvSpPr>
        <p:spPr>
          <a:xfrm>
            <a:off x="941832" y="3840480"/>
            <a:ext cx="45720" cy="1051560"/>
          </a:xfrm>
          <a:prstGeom prst="rect">
            <a:avLst/>
          </a:prstGeom>
          <a:solidFill>
            <a:srgbClr val="6E2D3A"/>
          </a:solidFill>
          <a:ln w="12700">
            <a:solidFill>
              <a:srgbClr val="6E2D3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1124712" y="3822192"/>
            <a:ext cx="4572000" cy="329184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6E2D3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✕  Истекао доказ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124712" y="4224528"/>
            <a:ext cx="4544568" cy="70408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marL="0" indent="0" algn="l">
              <a:buNone/>
            </a:pPr>
            <a:r>
              <a:rPr lang="en-US" sz="1150" dirty="0">
                <a:solidFill>
                  <a:srgbClr val="25222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timestamp је ван дозвољеног прозора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309360" y="3657600"/>
            <a:ext cx="5074920" cy="1417320"/>
          </a:xfrm>
          <a:prstGeom prst="roundRect">
            <a:avLst>
              <a:gd name="adj" fmla="val 5161"/>
            </a:avLst>
          </a:prstGeom>
          <a:solidFill>
            <a:srgbClr val="E8D6D5"/>
          </a:solidFill>
          <a:ln w="12700">
            <a:solidFill>
              <a:srgbClr val="E1D9D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Shape 15"/>
          <p:cNvSpPr/>
          <p:nvPr/>
        </p:nvSpPr>
        <p:spPr>
          <a:xfrm>
            <a:off x="6473952" y="3840480"/>
            <a:ext cx="45720" cy="1051560"/>
          </a:xfrm>
          <a:prstGeom prst="rect">
            <a:avLst/>
          </a:prstGeom>
          <a:solidFill>
            <a:srgbClr val="6E2D3A"/>
          </a:solidFill>
          <a:ln w="12700">
            <a:solidFill>
              <a:srgbClr val="6E2D3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Text 16"/>
          <p:cNvSpPr/>
          <p:nvPr/>
        </p:nvSpPr>
        <p:spPr>
          <a:xfrm>
            <a:off x="6656832" y="3822192"/>
            <a:ext cx="4572000" cy="329184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6E2D3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✕  Replay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656832" y="4224528"/>
            <a:ext cx="4544568" cy="70408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marL="0" indent="0" algn="l">
              <a:buNone/>
            </a:pPr>
            <a:r>
              <a:rPr lang="en-US" sz="1150" dirty="0">
                <a:solidFill>
                  <a:srgbClr val="25222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nonce је већ искоришћен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914400" y="5577840"/>
            <a:ext cx="10332720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6E2D3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Тестовима је потврђено да auth слој правилно повезује доказ са стварним HTTP захтјевом.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19088"/>
            <a:ext cx="32004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766C68"/>
                </a:solidFill>
                <a:latin typeface="Noto Sans"/>
                <a:ea typeface="Noto Sans"/>
                <a:cs typeface="Noto Sans"/>
              </a:defRPr>
            </a:lvl1pPr>
          </a:lstStyle>
          <a:p>
            <a:r>
              <a:t>17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347472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110" dirty="0">
                <a:solidFill>
                  <a:srgbClr val="6E2D3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ПЕРФОРМАНСЕ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85800" y="658368"/>
            <a:ext cx="10744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25222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Генерисање и провјера доказа трају мање од 0,1 ms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960120" y="1828800"/>
            <a:ext cx="4526280" cy="2286000"/>
          </a:xfrm>
          <a:prstGeom prst="roundRect">
            <a:avLst>
              <a:gd name="adj" fmla="val 3200"/>
            </a:avLst>
          </a:prstGeom>
          <a:solidFill>
            <a:srgbClr val="F1E9DE"/>
          </a:solidFill>
          <a:ln w="12700">
            <a:solidFill>
              <a:srgbClr val="E1D9D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1124712" y="2011680"/>
            <a:ext cx="45720" cy="1920240"/>
          </a:xfrm>
          <a:prstGeom prst="rect">
            <a:avLst/>
          </a:prstGeom>
          <a:solidFill>
            <a:srgbClr val="6E2D3A"/>
          </a:solidFill>
          <a:ln w="12700">
            <a:solidFill>
              <a:srgbClr val="6E2D3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1307592" y="1993392"/>
            <a:ext cx="4023360" cy="329184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6E2D3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Генерисање доказа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307592" y="2395728"/>
            <a:ext cx="3995928" cy="157276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marL="0" indent="0" algn="l">
              <a:buNone/>
            </a:pPr>
            <a:r>
              <a:rPr lang="en-US" sz="1150" dirty="0">
                <a:solidFill>
                  <a:srgbClr val="25222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71,223 µs</a:t>
            </a:r>
            <a:endParaRPr lang="en-US" sz="1150" dirty="0"/>
          </a:p>
          <a:p>
            <a:pPr marL="0" indent="0" algn="l">
              <a:buNone/>
            </a:pPr>
            <a:endParaRPr lang="en-US" sz="1150" dirty="0"/>
          </a:p>
          <a:p>
            <a:pPr marL="0" indent="0" algn="l">
              <a:buNone/>
            </a:pPr>
            <a:r>
              <a:rPr lang="en-US" sz="1150" dirty="0">
                <a:solidFill>
                  <a:srgbClr val="25222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Criterion · release режим · 200 узорака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675120" y="1828800"/>
            <a:ext cx="4526280" cy="2286000"/>
          </a:xfrm>
          <a:prstGeom prst="roundRect">
            <a:avLst>
              <a:gd name="adj" fmla="val 3200"/>
            </a:avLst>
          </a:prstGeom>
          <a:solidFill>
            <a:srgbClr val="D9E1D4"/>
          </a:solidFill>
          <a:ln w="12700">
            <a:solidFill>
              <a:srgbClr val="E1D9D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6839712" y="2011680"/>
            <a:ext cx="45720" cy="1920240"/>
          </a:xfrm>
          <a:prstGeom prst="rect">
            <a:avLst/>
          </a:prstGeom>
          <a:solidFill>
            <a:srgbClr val="58705B"/>
          </a:solidFill>
          <a:ln w="12700">
            <a:solidFill>
              <a:srgbClr val="58705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7022592" y="1993392"/>
            <a:ext cx="4023360" cy="329184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6E2D3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Провјера доказа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022592" y="2395728"/>
            <a:ext cx="3995928" cy="157276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marL="0" indent="0" algn="l">
              <a:buNone/>
            </a:pPr>
            <a:r>
              <a:rPr lang="en-US" sz="1150" dirty="0">
                <a:solidFill>
                  <a:srgbClr val="25222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81,472 µs</a:t>
            </a:r>
            <a:endParaRPr lang="en-US" sz="1150" dirty="0"/>
          </a:p>
          <a:p>
            <a:pPr marL="0" indent="0" algn="l">
              <a:buNone/>
            </a:pPr>
            <a:endParaRPr lang="en-US" sz="1150" dirty="0"/>
          </a:p>
          <a:p>
            <a:pPr marL="0" indent="0" algn="l">
              <a:buNone/>
            </a:pPr>
            <a:r>
              <a:rPr lang="en-US" sz="1150" dirty="0">
                <a:solidFill>
                  <a:srgbClr val="25222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Criterion · Intel Core i7 · 16 GB RAM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1920240" y="4709160"/>
            <a:ext cx="3383280" cy="384048"/>
          </a:xfrm>
          <a:prstGeom prst="roundRect">
            <a:avLst/>
          </a:prstGeom>
          <a:solidFill>
            <a:srgbClr val="E8D6D5"/>
          </a:solidFill>
          <a:ln w="12700">
            <a:solidFill>
              <a:srgbClr val="E8D6D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11"/>
          <p:cNvSpPr/>
          <p:nvPr/>
        </p:nvSpPr>
        <p:spPr>
          <a:xfrm>
            <a:off x="1920240" y="4709160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6E2D3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64 B · сирови Schnorr доказ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446520" y="4709160"/>
            <a:ext cx="3794760" cy="384048"/>
          </a:xfrm>
          <a:prstGeom prst="roundRect">
            <a:avLst/>
          </a:prstGeom>
          <a:solidFill>
            <a:srgbClr val="E8D6D5"/>
          </a:solidFill>
          <a:ln w="12700">
            <a:solidFill>
              <a:srgbClr val="E8D6D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6446520" y="4709160"/>
            <a:ext cx="3794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6E2D3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≈ 290 B · бинарни AuthProofBundle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1051560" y="5623560"/>
            <a:ext cx="10058400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6E2D3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Мјерења показују практичну изводљивост реализованог механизма у демонстрационом окружењу.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19088"/>
            <a:ext cx="32004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766C68"/>
                </a:solidFill>
                <a:latin typeface="Noto Sans"/>
                <a:ea typeface="Noto Sans"/>
                <a:cs typeface="Noto Sans"/>
              </a:defRPr>
            </a:lvl1pPr>
          </a:lstStyle>
          <a:p>
            <a:r>
              <a:t>18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347472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110" dirty="0">
                <a:solidFill>
                  <a:srgbClr val="6E2D3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ПОРЕЂЕЊЕ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85800" y="658368"/>
            <a:ext cx="10744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25222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ZKP има већи трошак од једноставних механизама, али другачија безбједносна својства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777240" y="1828800"/>
            <a:ext cx="10652760" cy="621792"/>
          </a:xfrm>
          <a:prstGeom prst="roundRect">
            <a:avLst/>
          </a:prstGeom>
          <a:solidFill>
            <a:srgbClr val="F1E9DE"/>
          </a:solidFill>
          <a:ln w="12700">
            <a:solidFill>
              <a:srgbClr val="DDD5C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960120" y="1901952"/>
            <a:ext cx="2011680" cy="4114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25222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API кључ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3246120" y="1901952"/>
            <a:ext cx="2240280" cy="4114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25222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157,82 ns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715000" y="1901952"/>
            <a:ext cx="5394960" cy="4114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l">
              <a:buNone/>
            </a:pPr>
            <a:r>
              <a:rPr lang="en-US" sz="1150" dirty="0">
                <a:solidFill>
                  <a:srgbClr val="766C68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constant-time поређење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777240" y="2651760"/>
            <a:ext cx="10652760" cy="6217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5C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960120" y="2724912"/>
            <a:ext cx="2011680" cy="4114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25222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JWT HS256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3246120" y="2724912"/>
            <a:ext cx="2240280" cy="4114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25222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1,10 / 2,68 µs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5715000" y="2724912"/>
            <a:ext cx="5394960" cy="4114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l">
              <a:buNone/>
            </a:pPr>
            <a:r>
              <a:rPr lang="en-US" sz="1150" dirty="0">
                <a:solidFill>
                  <a:srgbClr val="766C68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издавање / провјера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777240" y="3474720"/>
            <a:ext cx="10652760" cy="621792"/>
          </a:xfrm>
          <a:prstGeom prst="roundRect">
            <a:avLst/>
          </a:prstGeom>
          <a:solidFill>
            <a:srgbClr val="E8D6D5"/>
          </a:solidFill>
          <a:ln w="12700">
            <a:solidFill>
              <a:srgbClr val="DDD5C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11"/>
          <p:cNvSpPr/>
          <p:nvPr/>
        </p:nvSpPr>
        <p:spPr>
          <a:xfrm>
            <a:off x="960120" y="3547872"/>
            <a:ext cx="2011680" cy="4114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6E2D3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ZKP Schnorr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3246120" y="3547872"/>
            <a:ext cx="2240280" cy="4114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25222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64,29 / 67,78 µs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5715000" y="3547872"/>
            <a:ext cx="5394960" cy="4114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l">
              <a:buNone/>
            </a:pPr>
            <a:r>
              <a:rPr lang="en-US" sz="1150" dirty="0">
                <a:solidFill>
                  <a:srgbClr val="766C68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генерисање / провјера у заједничком benchmark-у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77240" y="4297680"/>
            <a:ext cx="10652760" cy="6217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5C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960120" y="4370832"/>
            <a:ext cx="2011680" cy="4114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25222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mTLS P-256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3246120" y="4370832"/>
            <a:ext cx="2240280" cy="4114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25222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153,17 + 415,25 µs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5715000" y="4370832"/>
            <a:ext cx="5394960" cy="4114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l">
              <a:buNone/>
            </a:pPr>
            <a:r>
              <a:rPr lang="en-US" sz="1150" dirty="0">
                <a:solidFill>
                  <a:srgbClr val="766C68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ECDHE + потписивање/провјера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914400" y="5349240"/>
            <a:ext cx="10287000" cy="65836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6E2D3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Важно: поређене су репрезентативне криптографске операције, без мрежног преноса; ово није мјерење укупне латенције аутентификације.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19088"/>
            <a:ext cx="32004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766C68"/>
                </a:solidFill>
                <a:latin typeface="Noto Sans"/>
                <a:ea typeface="Noto Sans"/>
                <a:cs typeface="Noto Sans"/>
              </a:defRPr>
            </a:lvl1pPr>
          </a:lstStyle>
          <a:p>
            <a:r>
              <a:t>19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347472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110" dirty="0">
                <a:solidFill>
                  <a:srgbClr val="6E2D3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ОГРАНИЧЕЊА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85800" y="658368"/>
            <a:ext cx="10744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25222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Рјешење је доказ изводљивости, не готова замјена за продукциону инфраструктуру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822960" y="1828800"/>
            <a:ext cx="3337560" cy="3520440"/>
          </a:xfrm>
          <a:prstGeom prst="roundRect">
            <a:avLst>
              <a:gd name="adj" fmla="val 2192"/>
            </a:avLst>
          </a:prstGeom>
          <a:solidFill>
            <a:srgbClr val="F1E9DE"/>
          </a:solidFill>
          <a:ln w="12700">
            <a:solidFill>
              <a:srgbClr val="E1D9D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987552" y="2011680"/>
            <a:ext cx="45720" cy="3154680"/>
          </a:xfrm>
          <a:prstGeom prst="rect">
            <a:avLst/>
          </a:prstGeom>
          <a:solidFill>
            <a:srgbClr val="6E2D3A"/>
          </a:solidFill>
          <a:ln w="12700">
            <a:solidFill>
              <a:srgbClr val="6E2D3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1170432" y="1993392"/>
            <a:ext cx="2834640" cy="329184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6E2D3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Управљање кључевима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170432" y="2395728"/>
            <a:ext cx="2807208" cy="280720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marL="0" indent="0" algn="l">
              <a:buNone/>
            </a:pPr>
            <a:r>
              <a:rPr lang="en-US" sz="1150" dirty="0">
                <a:solidFill>
                  <a:srgbClr val="25222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Демонстрациона апликација нема комплетан продукциони механизам дистрибуције и ротације кључева.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434840" y="1828800"/>
            <a:ext cx="3337560" cy="3520440"/>
          </a:xfrm>
          <a:prstGeom prst="roundRect">
            <a:avLst>
              <a:gd name="adj" fmla="val 2192"/>
            </a:avLst>
          </a:prstGeom>
          <a:solidFill>
            <a:srgbClr val="E8D6D5"/>
          </a:solidFill>
          <a:ln w="12700">
            <a:solidFill>
              <a:srgbClr val="E1D9D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4599432" y="2011680"/>
            <a:ext cx="45720" cy="3154680"/>
          </a:xfrm>
          <a:prstGeom prst="rect">
            <a:avLst/>
          </a:prstGeom>
          <a:solidFill>
            <a:srgbClr val="C6A06B"/>
          </a:solidFill>
          <a:ln w="12700">
            <a:solidFill>
              <a:srgbClr val="C6A06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4782312" y="1993392"/>
            <a:ext cx="2834640" cy="329184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6E2D3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Replay складиште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782312" y="2395728"/>
            <a:ext cx="2807208" cy="280720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marL="0" indent="0" algn="l">
              <a:buNone/>
            </a:pPr>
            <a:r>
              <a:rPr lang="en-US" sz="1150" dirty="0">
                <a:solidFill>
                  <a:srgbClr val="25222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ReplayProtector чува nonce вриједности у меморији, што није довољно за више инстанци сервиса.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046720" y="1828800"/>
            <a:ext cx="3337560" cy="3520440"/>
          </a:xfrm>
          <a:prstGeom prst="roundRect">
            <a:avLst>
              <a:gd name="adj" fmla="val 2192"/>
            </a:avLst>
          </a:prstGeom>
          <a:solidFill>
            <a:srgbClr val="D9E1D4"/>
          </a:solidFill>
          <a:ln w="12700">
            <a:solidFill>
              <a:srgbClr val="E1D9D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Shape 11"/>
          <p:cNvSpPr/>
          <p:nvPr/>
        </p:nvSpPr>
        <p:spPr>
          <a:xfrm>
            <a:off x="8211312" y="2011680"/>
            <a:ext cx="45720" cy="3154680"/>
          </a:xfrm>
          <a:prstGeom prst="rect">
            <a:avLst/>
          </a:prstGeom>
          <a:solidFill>
            <a:srgbClr val="58705B"/>
          </a:solidFill>
          <a:ln w="12700">
            <a:solidFill>
              <a:srgbClr val="58705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8394192" y="1993392"/>
            <a:ext cx="2834640" cy="329184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6E2D3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Сложеност и трошак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394192" y="2395728"/>
            <a:ext cx="2807208" cy="280720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marL="0" indent="0" algn="l">
              <a:buNone/>
            </a:pPr>
            <a:r>
              <a:rPr lang="en-US" sz="1150" dirty="0">
                <a:solidFill>
                  <a:srgbClr val="25222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ZKP уводи више криптографске и интеграционе сложености од API кључа или једноставног токена.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19088"/>
            <a:ext cx="32004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766C68"/>
                </a:solidFill>
                <a:latin typeface="Noto Sans"/>
                <a:ea typeface="Noto Sans"/>
                <a:cs typeface="Noto Sans"/>
              </a:defRPr>
            </a:lvl1pPr>
          </a:lstStyle>
          <a:p>
            <a:r>
              <a:t>20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347472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110" dirty="0">
                <a:solidFill>
                  <a:srgbClr val="6E2D3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ДАЉИ РАЗВОЈ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85800" y="658368"/>
            <a:ext cx="10744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25222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Како би се прототип приближио продукционом окружењу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731520" y="1783080"/>
            <a:ext cx="3429000" cy="1600200"/>
          </a:xfrm>
          <a:prstGeom prst="roundRect">
            <a:avLst>
              <a:gd name="adj" fmla="val 4571"/>
            </a:avLst>
          </a:prstGeom>
          <a:solidFill>
            <a:srgbClr val="F1E9DE"/>
          </a:solidFill>
          <a:ln w="12700">
            <a:solidFill>
              <a:srgbClr val="E1D9D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896112" y="1965960"/>
            <a:ext cx="45720" cy="1234440"/>
          </a:xfrm>
          <a:prstGeom prst="rect">
            <a:avLst/>
          </a:prstGeom>
          <a:solidFill>
            <a:srgbClr val="6E2D3A"/>
          </a:solidFill>
          <a:ln w="12700">
            <a:solidFill>
              <a:srgbClr val="6E2D3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1078992" y="1947672"/>
            <a:ext cx="2926080" cy="329184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6E2D3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Регистар јавних кључева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78992" y="2350008"/>
            <a:ext cx="2898648" cy="88696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marL="0" indent="0" algn="l">
              <a:buNone/>
            </a:pPr>
            <a:r>
              <a:rPr lang="en-US" sz="1150" dirty="0">
                <a:solidFill>
                  <a:srgbClr val="25222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централизована или постојећа identity инфраструктура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480560" y="1783080"/>
            <a:ext cx="3429000" cy="1600200"/>
          </a:xfrm>
          <a:prstGeom prst="roundRect">
            <a:avLst>
              <a:gd name="adj" fmla="val 4571"/>
            </a:avLst>
          </a:prstGeom>
          <a:solidFill>
            <a:srgbClr val="E8D6D5"/>
          </a:solidFill>
          <a:ln w="12700">
            <a:solidFill>
              <a:srgbClr val="E1D9D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4645152" y="1965960"/>
            <a:ext cx="45720" cy="1234440"/>
          </a:xfrm>
          <a:prstGeom prst="rect">
            <a:avLst/>
          </a:prstGeom>
          <a:solidFill>
            <a:srgbClr val="C6A06B"/>
          </a:solidFill>
          <a:ln w="12700">
            <a:solidFill>
              <a:srgbClr val="C6A06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4828032" y="1947672"/>
            <a:ext cx="2926080" cy="329184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6E2D3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Redis replay заштита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828032" y="2350008"/>
            <a:ext cx="2898648" cy="88696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marL="0" indent="0" algn="l">
              <a:buNone/>
            </a:pPr>
            <a:r>
              <a:rPr lang="en-US" sz="1150" dirty="0">
                <a:solidFill>
                  <a:srgbClr val="25222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дијељено складиште за више инстанци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229600" y="1783080"/>
            <a:ext cx="3429000" cy="1600200"/>
          </a:xfrm>
          <a:prstGeom prst="roundRect">
            <a:avLst>
              <a:gd name="adj" fmla="val 4571"/>
            </a:avLst>
          </a:prstGeom>
          <a:solidFill>
            <a:srgbClr val="F1E9DE"/>
          </a:solidFill>
          <a:ln w="12700">
            <a:solidFill>
              <a:srgbClr val="E1D9D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Shape 11"/>
          <p:cNvSpPr/>
          <p:nvPr/>
        </p:nvSpPr>
        <p:spPr>
          <a:xfrm>
            <a:off x="8394192" y="1965960"/>
            <a:ext cx="45720" cy="1234440"/>
          </a:xfrm>
          <a:prstGeom prst="rect">
            <a:avLst/>
          </a:prstGeom>
          <a:solidFill>
            <a:srgbClr val="6E2D3A"/>
          </a:solidFill>
          <a:ln w="12700">
            <a:solidFill>
              <a:srgbClr val="6E2D3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8577072" y="1947672"/>
            <a:ext cx="2926080" cy="329184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6E2D3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Ротација кључева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577072" y="2350008"/>
            <a:ext cx="2898648" cy="88696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marL="0" indent="0" algn="l">
              <a:buNone/>
            </a:pPr>
            <a:r>
              <a:rPr lang="en-US" sz="1150" dirty="0">
                <a:solidFill>
                  <a:srgbClr val="25222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животни циклус и замјена кључева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1078992" y="3959352"/>
            <a:ext cx="2926080" cy="329184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l">
              <a:buNone/>
            </a:pP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078992" y="4361688"/>
            <a:ext cx="1412281" cy="742157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marL="0" indent="0" algn="l">
              <a:buNone/>
            </a:pP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4480560" y="3794760"/>
            <a:ext cx="3429000" cy="1600200"/>
          </a:xfrm>
          <a:prstGeom prst="roundRect">
            <a:avLst>
              <a:gd name="adj" fmla="val 4571"/>
            </a:avLst>
          </a:prstGeom>
          <a:solidFill>
            <a:srgbClr val="F1E9DE"/>
          </a:solidFill>
          <a:ln w="12700">
            <a:solidFill>
              <a:srgbClr val="E1D9D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Shape 19"/>
          <p:cNvSpPr/>
          <p:nvPr/>
        </p:nvSpPr>
        <p:spPr>
          <a:xfrm>
            <a:off x="4645152" y="3977640"/>
            <a:ext cx="45720" cy="1234440"/>
          </a:xfrm>
          <a:prstGeom prst="rect">
            <a:avLst/>
          </a:prstGeom>
          <a:solidFill>
            <a:srgbClr val="6E2D3A"/>
          </a:solidFill>
          <a:ln w="12700">
            <a:solidFill>
              <a:srgbClr val="6E2D3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Text 20"/>
          <p:cNvSpPr/>
          <p:nvPr/>
        </p:nvSpPr>
        <p:spPr>
          <a:xfrm>
            <a:off x="4828032" y="3959352"/>
            <a:ext cx="2926080" cy="329184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6E2D3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Други ZKP системи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4828032" y="4361688"/>
            <a:ext cx="2898648" cy="88696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>
            <a:normAutofit/>
          </a:bodyPr>
          <a:lstStyle/>
          <a:p>
            <a:pPr marL="0" indent="0" algn="l">
              <a:buNone/>
            </a:pPr>
            <a:r>
              <a:rPr lang="en-US" sz="1150" dirty="0">
                <a:solidFill>
                  <a:srgbClr val="25222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поређење са zk-SNARK приступима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19088"/>
            <a:ext cx="32004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766C68"/>
                </a:solidFill>
                <a:latin typeface="Noto Sans"/>
                <a:ea typeface="Noto Sans"/>
                <a:cs typeface="Noto Sans"/>
              </a:defRPr>
            </a:lvl1pPr>
          </a:lstStyle>
          <a:p>
            <a:r>
              <a:t>21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347472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110" dirty="0">
                <a:solidFill>
                  <a:srgbClr val="6E2D3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ЗАКЉУЧАК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85800" y="658368"/>
            <a:ext cx="10744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25222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Шта је реализовано и показано овим радом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914400" y="1645920"/>
            <a:ext cx="438912" cy="438912"/>
          </a:xfrm>
          <a:prstGeom prst="ellipse">
            <a:avLst/>
          </a:prstGeom>
          <a:solidFill>
            <a:srgbClr val="6E2D3A"/>
          </a:solidFill>
          <a:ln w="12700">
            <a:solidFill>
              <a:srgbClr val="6E2D3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914400" y="164592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1600200" y="1572768"/>
            <a:ext cx="9418320" cy="5943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l">
              <a:buNone/>
            </a:pPr>
            <a:r>
              <a:rPr lang="en-US" sz="1300" dirty="0">
                <a:solidFill>
                  <a:srgbClr val="25222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Schnorr + Fiat-Shamir омогућавају неинтерактивно доказивање посједовања приватног кључа.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914400" y="2468880"/>
            <a:ext cx="438912" cy="438912"/>
          </a:xfrm>
          <a:prstGeom prst="ellipse">
            <a:avLst/>
          </a:prstGeom>
          <a:solidFill>
            <a:srgbClr val="6E2D3A"/>
          </a:solidFill>
          <a:ln w="12700">
            <a:solidFill>
              <a:srgbClr val="6E2D3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914400" y="246888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2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1600200" y="2395728"/>
            <a:ext cx="9418320" cy="5943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l">
              <a:buNone/>
            </a:pPr>
            <a:r>
              <a:rPr lang="en-US" sz="1300" dirty="0">
                <a:solidFill>
                  <a:srgbClr val="25222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Доказ је везан за конкретан HTTP захтјев и заштићен од replay напада.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914400" y="3291840"/>
            <a:ext cx="438912" cy="438912"/>
          </a:xfrm>
          <a:prstGeom prst="ellipse">
            <a:avLst/>
          </a:prstGeom>
          <a:solidFill>
            <a:srgbClr val="6E2D3A"/>
          </a:solidFill>
          <a:ln w="12700">
            <a:solidFill>
              <a:srgbClr val="6E2D3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914400" y="329184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3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1600200" y="3218688"/>
            <a:ext cx="9418320" cy="5943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l">
              <a:buNone/>
            </a:pPr>
            <a:r>
              <a:rPr lang="en-US" sz="1300" dirty="0">
                <a:solidFill>
                  <a:srgbClr val="25222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Криптографски и аутентификациони слој су раздвојени у schnorr и auth crate пакете.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914400" y="4114800"/>
            <a:ext cx="438912" cy="438912"/>
          </a:xfrm>
          <a:prstGeom prst="ellipse">
            <a:avLst/>
          </a:prstGeom>
          <a:solidFill>
            <a:srgbClr val="6E2D3A"/>
          </a:solidFill>
          <a:ln w="12700">
            <a:solidFill>
              <a:srgbClr val="6E2D3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914400" y="41148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4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1600200" y="4041648"/>
            <a:ext cx="9418320" cy="5943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l">
              <a:buNone/>
            </a:pPr>
            <a:r>
              <a:rPr lang="en-US" sz="1300" dirty="0">
                <a:solidFill>
                  <a:srgbClr val="25222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Механизам је интегрисан у комуникацију три микросервиса и функционално тестиран.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914400" y="4937760"/>
            <a:ext cx="438912" cy="438912"/>
          </a:xfrm>
          <a:prstGeom prst="ellipse">
            <a:avLst/>
          </a:prstGeom>
          <a:solidFill>
            <a:srgbClr val="C6A06B"/>
          </a:solidFill>
          <a:ln w="12700">
            <a:solidFill>
              <a:srgbClr val="C6A06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914400" y="493776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5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1600200" y="4864608"/>
            <a:ext cx="9418320" cy="5943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6E2D3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Перформансе показују да је приступ практично изводљив, уз већи трошак и сложеност од једноставнијих механизама.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19088"/>
            <a:ext cx="32004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766C68"/>
                </a:solidFill>
                <a:latin typeface="Noto Sans"/>
                <a:ea typeface="Noto Sans"/>
                <a:cs typeface="Noto Sans"/>
              </a:defRPr>
            </a:lvl1pPr>
          </a:lstStyle>
          <a:p>
            <a:r>
              <a:t>22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6E2D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6E2D3A"/>
          </a:solidFill>
          <a:ln w="12700">
            <a:solidFill>
              <a:srgbClr val="6E2D3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9509760" y="502920"/>
            <a:ext cx="1920240" cy="1920240"/>
          </a:xfrm>
          <a:prstGeom prst="ellipse">
            <a:avLst/>
          </a:prstGeom>
          <a:solidFill>
            <a:srgbClr val="C6A06B">
              <a:alpha val="80000"/>
            </a:srgbClr>
          </a:solidFill>
          <a:ln w="12700">
            <a:solidFill>
              <a:srgbClr val="C6A06B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914400" y="1965960"/>
            <a:ext cx="8595360" cy="6858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Хвала на пажњи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914400" y="2926080"/>
            <a:ext cx="4572000" cy="5029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E8CFAE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Питања?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914400" y="5349240"/>
            <a:ext cx="4572000" cy="3200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r>
              <a:rPr lang="en-US" sz="1300" dirty="0">
                <a:solidFill>
                  <a:srgbClr val="F0E4D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Наташа Кашиковић · SV69/2022 </a:t>
            </a:r>
            <a:r>
              <a:rPr lang="en-US" sz="1400" dirty="0"/>
              <a:t>🎓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19088"/>
            <a:ext cx="32004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766C68"/>
                </a:solidFill>
                <a:latin typeface="Noto Sans"/>
                <a:ea typeface="Noto Sans"/>
                <a:cs typeface="Noto Sans"/>
              </a:defRPr>
            </a:lvl1pPr>
          </a:lstStyle>
          <a:p>
            <a:r>
              <a:t>23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Noto Sans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oto San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59</TotalTime>
  <Words>1540</Words>
  <Application>Microsoft Office PowerPoint</Application>
  <PresentationFormat>Widescreen</PresentationFormat>
  <Paragraphs>329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7" baseType="lpstr">
      <vt:lpstr>Aptos</vt:lpstr>
      <vt:lpstr>Arial</vt:lpstr>
      <vt:lpstr>Consolas</vt:lpstr>
      <vt:lpstr>Noto Sans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FTN Novi Sad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Biblioteka za autentifikaciju mikroservisne komunikacije korišćenjem metoda Zero-Knowledge Proofs</dc:title>
  <dc:subject>Diplomski rad</dc:subject>
  <dc:creator>Nataša Kašiković</dc:creator>
  <cp:lastModifiedBy>Nataša Kašiković</cp:lastModifiedBy>
  <cp:revision>4</cp:revision>
  <dcterms:created xsi:type="dcterms:W3CDTF">2026-09-16T10:34:14Z</dcterms:created>
  <dcterms:modified xsi:type="dcterms:W3CDTF">2026-09-17T07:37:09Z</dcterms:modified>
</cp:coreProperties>
</file>